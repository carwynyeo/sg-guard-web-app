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95" d="100"/>
          <a:sy n="95" d="100"/>
        </p:scale>
        <p:origin x="200" y="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600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everyone. We're Carwyn and Yan Yee — this is our final review for SG Guard. Since the midterm, we've kept building, but more importantly, we've gone back and fixed things a closer look told us were wrong. That honesty is really the throughline of today's talk.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we'll walk through it — and we've deliberately mapped it to the six things this review is actually graded on: the problem, our research, the design process, how we built the intervention, what it does today, and an honest look at strengths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for anyone who wasn't at the midterm: the core problem is partial digital fluency among seniors, met by AI that can now personalise deception at scale. The numbers are stark — S$37,053 average loss per elderly victim, and 81.8% of cases where the victim transferred the money themselves. They weren't hacked. They were manipulated.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we want to add for the final review. What's actually happening is an arms race between two uses of AI. On one side, generative AI lets scammers harvest data, personalise a script, and clone a voice from three seconds of audio — cheaply, at scale. On our side, we're using AI too, but for a different job: not to move faster than them, but to read for manipulation and support judgement, with an honest three-way verdict instead of false certainty. Static blacklists lose this race by design. We're trying to change what the race is about.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research side, the scale is real — S$913.1 million lost in 2025, a 124% rise in government-impersonation cases, and seventeen scam networks dismantled without losses actually dropping. But the finding that shaped our design most wasn't a number — it was a gap. Every stakeholder we mapped had a voice in this system except seniors themselves.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process has had some honest failures in it. We tested a hard-blocking reject screen and dropped it, because both participant feedback and the literature pointed the same way: seniors disengage the moment a tool feels like it's taking judgement away from them. We also leaned on physical infrastructure seniors already trust — priority queues, PA networks — as the model for a digital equivalent. And we're naming directly that we haven't closed the participatory loop yet — no formal testing session with seniors has happened.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to Yan Yee here. Trust was central at the midterm too — state the promise upfront, cut the jargon, never blame the user, keep a human exit on every screen. What's new this phase is the honest realisation that one of those promises was actually false. We told seniors their message never leaves the screen. It does — it's sent to an AI model to be checked. For a tool that's entirely about trust, that's not a copy bug, it's the exact failure mode we're trying to prevent. We rewrote it to say what's actually true, and it's still reassuring — just honestly 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front end: three ways to share a message, so no one's forced into the input method they're least comfortable with. Visible progress throughout, because open-ended flows create anxiety on a first try. And accessibility controls sit in a permanent strip at the top, not three taps deep.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back end: an Express server holds the Gemini API key, so it never touches the browser. The most important change here is that Gemini's structured-output mode hard-constrains the verdict field to an enum — warning, unsure, or safe — so a calibrated third answer is actually reliable, not just requested in a prompt and hoped for. And the privacy promise on the front end is backed up here — the server forwards only the one message being checked, and nothing is stored.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worth dwelling on because it's an AI-fairness point as much as a UX one. Forcing a binary warning/safe verdict onto a genuinely ambiguous message means the model has to fake confidence it doesn't have — and the senior pays the cost of a confidently wrong answer. “Unsure” makes that uncertainty visible instead, and lists both what looks concerning and what looks reassuring.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concrete about what changed since the midterm: three fixes, all critique-driven. We fixed a false privacy claim. We added the calibrated unsure verdict. And we de-gendered the default trusted contact, so the tool doesn't quietly assume caregiving is one family role's job.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what's actually working today. A live multimodal prototype wired to Gemini, not a mockup. Three honest verdicts, each explained tactic by tactic. A trust layer that tells the truth about what happens to a message. And a one-tap handoff to a real person from every result — the AI is a second opinion, never the final word.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asked to weave design theory through the project rather than bolt it on, so here's the honest map — each concept tied to one specific decision we actually made, not a definition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to close before questions: an honest account of where we stand. The real strengths are the honest pipeline, the calibrated uncertainty, true multimodal accessibility, and the human handoff. The real limitations: we haven't tested with seniors yet, the arms race doesn't have a permanent winner, the add-a-contact feature is still a placeholder, we're English-only, and we haven't validated cost or latency at real scale.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participatory testing at PA Active Ageing Centres to close the gap we just named, formal evaluation and benchmarking, and ongoing refinement of the prompt and schema — because the other side of this arms race keeps iterating too, so we have to as well.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SG Guard, final review — an attempt to meet Singapore's seniors where they are, and to be honest with them, and with you, about exactly where the tool still falls short. We'd love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822960" y="822960"/>
            <a:ext cx="5486400" cy="320040"/>
          </a:xfrm>
          <a:prstGeom prst="rect">
            <a:avLst/>
          </a:prstGeom>
          <a:noFill/>
          <a:ln/>
        </p:spPr>
        <p:txBody>
          <a:bodyPr wrap="square" rtlCol="0" anchor="ctr"/>
          <a:lstStyle/>
          <a:p>
            <a:pPr marL="0" indent="0">
              <a:buNone/>
            </a:pPr>
            <a:r>
              <a:rPr lang="en-US" sz="1200" kern="0" spc="200" dirty="0">
                <a:solidFill>
                  <a:srgbClr val="B8863A"/>
                </a:solidFill>
                <a:latin typeface="Courier New" pitchFamily="34" charset="0"/>
                <a:ea typeface="Courier New" pitchFamily="34" charset="-122"/>
                <a:cs typeface="Courier New" pitchFamily="34" charset="-120"/>
              </a:rPr>
              <a:t>FINAL REVIEW</a:t>
            </a:r>
            <a:endParaRPr lang="en-US" sz="1200" dirty="0"/>
          </a:p>
        </p:txBody>
      </p:sp>
      <p:sp>
        <p:nvSpPr>
          <p:cNvPr id="3" name="Text 1"/>
          <p:cNvSpPr/>
          <p:nvPr/>
        </p:nvSpPr>
        <p:spPr>
          <a:xfrm>
            <a:off x="777240" y="2331720"/>
            <a:ext cx="9601200" cy="146304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SG Guard</a:t>
            </a:r>
            <a:endParaRPr lang="en-US" sz="6400" dirty="0"/>
          </a:p>
        </p:txBody>
      </p:sp>
      <p:sp>
        <p:nvSpPr>
          <p:cNvPr id="4" name="Shape 2"/>
          <p:cNvSpPr/>
          <p:nvPr/>
        </p:nvSpPr>
        <p:spPr>
          <a:xfrm>
            <a:off x="822960" y="3977640"/>
            <a:ext cx="2011680" cy="0"/>
          </a:xfrm>
          <a:prstGeom prst="line">
            <a:avLst/>
          </a:prstGeom>
          <a:noFill/>
          <a:ln w="25400">
            <a:solidFill>
              <a:srgbClr val="B8863A"/>
            </a:solidFill>
            <a:prstDash val="dash"/>
          </a:ln>
        </p:spPr>
        <p:txBody>
          <a:bodyPr/>
          <a:lstStyle/>
          <a:p>
            <a:endParaRPr lang="en-US"/>
          </a:p>
        </p:txBody>
      </p:sp>
      <p:sp>
        <p:nvSpPr>
          <p:cNvPr id="5" name="Text 3"/>
          <p:cNvSpPr/>
          <p:nvPr/>
        </p:nvSpPr>
        <p:spPr>
          <a:xfrm>
            <a:off x="822960" y="4160520"/>
            <a:ext cx="8412480" cy="822960"/>
          </a:xfrm>
          <a:prstGeom prst="rect">
            <a:avLst/>
          </a:prstGeom>
          <a:noFill/>
          <a:ln/>
        </p:spPr>
        <p:txBody>
          <a:bodyPr wrap="square" rtlCol="0" anchor="ctr"/>
          <a:lstStyle/>
          <a:p>
            <a:pPr marL="0" indent="0">
              <a:lnSpc>
                <a:spcPts val="2200"/>
              </a:lnSpc>
              <a:buNone/>
            </a:pPr>
            <a:r>
              <a:rPr lang="en-US" sz="1600" dirty="0">
                <a:solidFill>
                  <a:srgbClr val="CBD0CE"/>
                </a:solidFill>
                <a:latin typeface="Calibri" pitchFamily="34" charset="0"/>
                <a:ea typeface="Calibri" pitchFamily="34" charset="-122"/>
                <a:cs typeface="Calibri" pitchFamily="34" charset="-120"/>
              </a:rPr>
              <a:t>From prototype to a trust-first defence against AI-personalised scams — an honest look at what we built, fixed, and still don't know.</a:t>
            </a:r>
            <a:endParaRPr lang="en-US" sz="1600" dirty="0"/>
          </a:p>
        </p:txBody>
      </p:sp>
      <p:sp>
        <p:nvSpPr>
          <p:cNvPr id="6" name="Text 4"/>
          <p:cNvSpPr/>
          <p:nvPr/>
        </p:nvSpPr>
        <p:spPr>
          <a:xfrm>
            <a:off x="822960" y="5989320"/>
            <a:ext cx="54864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Carwyn Yeo  ·  Lam Yan Yee</a:t>
            </a:r>
            <a:endParaRPr lang="en-US" sz="1300" dirty="0"/>
          </a:p>
        </p:txBody>
      </p:sp>
      <p:sp>
        <p:nvSpPr>
          <p:cNvPr id="7" name="Text 5"/>
          <p:cNvSpPr/>
          <p:nvPr/>
        </p:nvSpPr>
        <p:spPr>
          <a:xfrm>
            <a:off x="822960" y="6309360"/>
            <a:ext cx="7315200" cy="274320"/>
          </a:xfrm>
          <a:prstGeom prst="rect">
            <a:avLst/>
          </a:prstGeom>
          <a:noFill/>
          <a:ln/>
        </p:spPr>
        <p:txBody>
          <a:bodyPr wrap="square" rtlCol="0" anchor="ctr"/>
          <a:lstStyle/>
          <a:p>
            <a:pPr marL="0" indent="0">
              <a:buNone/>
            </a:pPr>
            <a:r>
              <a:rPr lang="en-US" sz="900" kern="0" spc="100" dirty="0">
                <a:solidFill>
                  <a:srgbClr val="9A9A9A"/>
                </a:solidFill>
                <a:latin typeface="Courier New" pitchFamily="34" charset="0"/>
                <a:ea typeface="Courier New" pitchFamily="34" charset="-122"/>
                <a:cs typeface="Courier New" pitchFamily="34" charset="-120"/>
              </a:rPr>
              <a:t>AI, COMPUTING &amp; THE CITY — FINAL REVIEW</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7315200" cy="274320"/>
          </a:xfrm>
          <a:prstGeom prst="rect">
            <a:avLst/>
          </a:prstGeom>
          <a:noFill/>
          <a:ln/>
        </p:spPr>
        <p:txBody>
          <a:bodyPr wrap="square"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TODAY'S WALKTHROUGH</a:t>
            </a:r>
            <a:endParaRPr lang="en-US" sz="1100" dirty="0"/>
          </a:p>
        </p:txBody>
      </p:sp>
      <p:sp>
        <p:nvSpPr>
          <p:cNvPr id="3" name="Text 1"/>
          <p:cNvSpPr/>
          <p:nvPr/>
        </p:nvSpPr>
        <p:spPr>
          <a:xfrm>
            <a:off x="457200" y="731520"/>
            <a:ext cx="10058400" cy="548640"/>
          </a:xfrm>
          <a:prstGeom prst="rect">
            <a:avLst/>
          </a:prstGeom>
          <a:noFill/>
          <a:ln/>
        </p:spPr>
        <p:txBody>
          <a:bodyPr wrap="square" rtlCol="0" anchor="ctr"/>
          <a:lstStyle/>
          <a:p>
            <a:pPr marL="0" indent="0">
              <a:buNone/>
            </a:pPr>
            <a:r>
              <a:rPr lang="en-US" sz="2800" b="1" dirty="0">
                <a:solidFill>
                  <a:srgbClr val="111111"/>
                </a:solidFill>
                <a:latin typeface="Cambria" pitchFamily="34" charset="0"/>
                <a:ea typeface="Cambria" pitchFamily="34" charset="-122"/>
                <a:cs typeface="Cambria" pitchFamily="34" charset="-120"/>
              </a:rPr>
              <a:t>What we'll cover, mapped to the review criteria</a:t>
            </a:r>
            <a:endParaRPr lang="en-US" sz="2800" dirty="0"/>
          </a:p>
        </p:txBody>
      </p:sp>
      <p:sp>
        <p:nvSpPr>
          <p:cNvPr id="4" name="Shape 2"/>
          <p:cNvSpPr/>
          <p:nvPr/>
        </p:nvSpPr>
        <p:spPr>
          <a:xfrm>
            <a:off x="457200" y="1691640"/>
            <a:ext cx="5074920" cy="1188720"/>
          </a:xfrm>
          <a:prstGeom prst="roundRect">
            <a:avLst>
              <a:gd name="adj" fmla="val 6154"/>
            </a:avLst>
          </a:prstGeom>
          <a:solidFill>
            <a:srgbClr val="FAFAF8"/>
          </a:solidFill>
          <a:ln w="12700">
            <a:solidFill>
              <a:srgbClr val="D6D6D2"/>
            </a:solidFill>
            <a:prstDash val="solid"/>
          </a:ln>
        </p:spPr>
        <p:txBody>
          <a:bodyPr/>
          <a:lstStyle/>
          <a:p>
            <a:endParaRPr lang="en-US"/>
          </a:p>
        </p:txBody>
      </p:sp>
      <p:sp>
        <p:nvSpPr>
          <p:cNvPr id="5" name="Text 3"/>
          <p:cNvSpPr/>
          <p:nvPr/>
        </p:nvSpPr>
        <p:spPr>
          <a:xfrm>
            <a:off x="685800" y="1856232"/>
            <a:ext cx="822960" cy="822960"/>
          </a:xfrm>
          <a:prstGeom prst="rect">
            <a:avLst/>
          </a:prstGeom>
          <a:noFill/>
          <a:ln/>
        </p:spPr>
        <p:txBody>
          <a:bodyPr wrap="square" rtlCol="0" anchor="t"/>
          <a:lstStyle/>
          <a:p>
            <a:pPr marL="0" indent="0">
              <a:buNone/>
            </a:pPr>
            <a:r>
              <a:rPr lang="en-US" sz="3000" b="1" dirty="0">
                <a:solidFill>
                  <a:srgbClr val="B8863A"/>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463040" y="1874520"/>
            <a:ext cx="3840480" cy="365760"/>
          </a:xfrm>
          <a:prstGeom prst="rect">
            <a:avLst/>
          </a:prstGeom>
          <a:noFill/>
          <a:ln/>
        </p:spPr>
        <p:txBody>
          <a:bodyPr wrap="square" lIns="0" tIns="0" rIns="0" bIns="0" rtlCol="0" anchor="t"/>
          <a:lstStyle/>
          <a:p>
            <a:pPr marL="0" indent="0">
              <a:buNone/>
            </a:pPr>
            <a:r>
              <a:rPr lang="en-US" sz="1600" b="1" dirty="0">
                <a:solidFill>
                  <a:srgbClr val="111111"/>
                </a:solidFill>
                <a:latin typeface="Cambria" pitchFamily="34" charset="0"/>
                <a:ea typeface="Cambria" pitchFamily="34" charset="-122"/>
                <a:cs typeface="Cambria" pitchFamily="34" charset="-120"/>
              </a:rPr>
              <a:t>The problem</a:t>
            </a:r>
            <a:endParaRPr lang="en-US" sz="1600" dirty="0"/>
          </a:p>
        </p:txBody>
      </p:sp>
      <p:sp>
        <p:nvSpPr>
          <p:cNvPr id="7" name="Text 5"/>
          <p:cNvSpPr/>
          <p:nvPr/>
        </p:nvSpPr>
        <p:spPr>
          <a:xfrm>
            <a:off x="1463040" y="2258568"/>
            <a:ext cx="3840480" cy="548640"/>
          </a:xfrm>
          <a:prstGeom prst="rect">
            <a:avLst/>
          </a:prstGeom>
          <a:noFill/>
          <a:ln/>
        </p:spPr>
        <p:txBody>
          <a:bodyPr wrap="square" lIns="0" tIns="0" rIns="0" bIns="0" rtlCol="0" anchor="t"/>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…and why it's now an AI-vs-AI contest</a:t>
            </a:r>
            <a:endParaRPr lang="en-US" sz="1150" dirty="0"/>
          </a:p>
        </p:txBody>
      </p:sp>
      <p:sp>
        <p:nvSpPr>
          <p:cNvPr id="8" name="Shape 6"/>
          <p:cNvSpPr/>
          <p:nvPr/>
        </p:nvSpPr>
        <p:spPr>
          <a:xfrm>
            <a:off x="5852160" y="1691640"/>
            <a:ext cx="5074920" cy="1188720"/>
          </a:xfrm>
          <a:prstGeom prst="roundRect">
            <a:avLst>
              <a:gd name="adj" fmla="val 6154"/>
            </a:avLst>
          </a:prstGeom>
          <a:solidFill>
            <a:srgbClr val="FAFAF8"/>
          </a:solidFill>
          <a:ln w="12700">
            <a:solidFill>
              <a:srgbClr val="D6D6D2"/>
            </a:solidFill>
            <a:prstDash val="solid"/>
          </a:ln>
        </p:spPr>
        <p:txBody>
          <a:bodyPr/>
          <a:lstStyle/>
          <a:p>
            <a:endParaRPr lang="en-US"/>
          </a:p>
        </p:txBody>
      </p:sp>
      <p:sp>
        <p:nvSpPr>
          <p:cNvPr id="9" name="Text 7"/>
          <p:cNvSpPr/>
          <p:nvPr/>
        </p:nvSpPr>
        <p:spPr>
          <a:xfrm>
            <a:off x="6080760" y="1856232"/>
            <a:ext cx="822960" cy="822960"/>
          </a:xfrm>
          <a:prstGeom prst="rect">
            <a:avLst/>
          </a:prstGeom>
          <a:noFill/>
          <a:ln/>
        </p:spPr>
        <p:txBody>
          <a:bodyPr wrap="square" rtlCol="0" anchor="t"/>
          <a:lstStyle/>
          <a:p>
            <a:pPr marL="0" indent="0">
              <a:buNone/>
            </a:pPr>
            <a:r>
              <a:rPr lang="en-US" sz="3000" b="1" dirty="0">
                <a:solidFill>
                  <a:srgbClr val="B8863A"/>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6858000" y="1874520"/>
            <a:ext cx="3840480" cy="365760"/>
          </a:xfrm>
          <a:prstGeom prst="rect">
            <a:avLst/>
          </a:prstGeom>
          <a:noFill/>
          <a:ln/>
        </p:spPr>
        <p:txBody>
          <a:bodyPr wrap="square" lIns="0" tIns="0" rIns="0" bIns="0" rtlCol="0" anchor="t"/>
          <a:lstStyle/>
          <a:p>
            <a:pPr marL="0" indent="0">
              <a:buNone/>
            </a:pPr>
            <a:r>
              <a:rPr lang="en-US" sz="1600" b="1" dirty="0">
                <a:solidFill>
                  <a:srgbClr val="111111"/>
                </a:solidFill>
                <a:latin typeface="Cambria" pitchFamily="34" charset="0"/>
                <a:ea typeface="Cambria" pitchFamily="34" charset="-122"/>
                <a:cs typeface="Cambria" pitchFamily="34" charset="-120"/>
              </a:rPr>
              <a:t>Research &amp; analysis</a:t>
            </a:r>
            <a:endParaRPr lang="en-US" sz="1600" dirty="0"/>
          </a:p>
        </p:txBody>
      </p:sp>
      <p:sp>
        <p:nvSpPr>
          <p:cNvPr id="11" name="Text 9"/>
          <p:cNvSpPr/>
          <p:nvPr/>
        </p:nvSpPr>
        <p:spPr>
          <a:xfrm>
            <a:off x="6858000" y="2258568"/>
            <a:ext cx="3840480" cy="548640"/>
          </a:xfrm>
          <a:prstGeom prst="rect">
            <a:avLst/>
          </a:prstGeom>
          <a:noFill/>
          <a:ln/>
        </p:spPr>
        <p:txBody>
          <a:bodyPr wrap="square" lIns="0" tIns="0" rIns="0" bIns="0" rtlCol="0" anchor="t"/>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Evidence, stakeholders, the gap that shaped everything</a:t>
            </a:r>
            <a:endParaRPr lang="en-US" sz="1150" dirty="0"/>
          </a:p>
        </p:txBody>
      </p:sp>
      <p:sp>
        <p:nvSpPr>
          <p:cNvPr id="12" name="Shape 10"/>
          <p:cNvSpPr/>
          <p:nvPr/>
        </p:nvSpPr>
        <p:spPr>
          <a:xfrm>
            <a:off x="457200" y="3108960"/>
            <a:ext cx="5074920" cy="1188720"/>
          </a:xfrm>
          <a:prstGeom prst="roundRect">
            <a:avLst>
              <a:gd name="adj" fmla="val 6154"/>
            </a:avLst>
          </a:prstGeom>
          <a:solidFill>
            <a:srgbClr val="FAFAF8"/>
          </a:solidFill>
          <a:ln w="12700">
            <a:solidFill>
              <a:srgbClr val="D6D6D2"/>
            </a:solidFill>
            <a:prstDash val="solid"/>
          </a:ln>
        </p:spPr>
        <p:txBody>
          <a:bodyPr/>
          <a:lstStyle/>
          <a:p>
            <a:endParaRPr lang="en-US"/>
          </a:p>
        </p:txBody>
      </p:sp>
      <p:sp>
        <p:nvSpPr>
          <p:cNvPr id="13" name="Text 11"/>
          <p:cNvSpPr/>
          <p:nvPr/>
        </p:nvSpPr>
        <p:spPr>
          <a:xfrm>
            <a:off x="685800" y="3273552"/>
            <a:ext cx="822960" cy="822960"/>
          </a:xfrm>
          <a:prstGeom prst="rect">
            <a:avLst/>
          </a:prstGeom>
          <a:noFill/>
          <a:ln/>
        </p:spPr>
        <p:txBody>
          <a:bodyPr wrap="square" rtlCol="0" anchor="t"/>
          <a:lstStyle/>
          <a:p>
            <a:pPr marL="0" indent="0">
              <a:buNone/>
            </a:pPr>
            <a:r>
              <a:rPr lang="en-US" sz="3000" b="1" dirty="0">
                <a:solidFill>
                  <a:srgbClr val="B8863A"/>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1463040" y="3291840"/>
            <a:ext cx="3840480" cy="365760"/>
          </a:xfrm>
          <a:prstGeom prst="rect">
            <a:avLst/>
          </a:prstGeom>
          <a:noFill/>
          <a:ln/>
        </p:spPr>
        <p:txBody>
          <a:bodyPr wrap="square" lIns="0" tIns="0" rIns="0" bIns="0" rtlCol="0" anchor="t"/>
          <a:lstStyle/>
          <a:p>
            <a:pPr marL="0" indent="0">
              <a:buNone/>
            </a:pPr>
            <a:r>
              <a:rPr lang="en-US" sz="1600" b="1" dirty="0">
                <a:solidFill>
                  <a:srgbClr val="111111"/>
                </a:solidFill>
                <a:latin typeface="Cambria" pitchFamily="34" charset="0"/>
                <a:ea typeface="Cambria" pitchFamily="34" charset="-122"/>
                <a:cs typeface="Cambria" pitchFamily="34" charset="-120"/>
              </a:rPr>
              <a:t>Design process</a:t>
            </a:r>
            <a:endParaRPr lang="en-US" sz="1600" dirty="0"/>
          </a:p>
        </p:txBody>
      </p:sp>
      <p:sp>
        <p:nvSpPr>
          <p:cNvPr id="15" name="Text 13"/>
          <p:cNvSpPr/>
          <p:nvPr/>
        </p:nvSpPr>
        <p:spPr>
          <a:xfrm>
            <a:off x="1463040" y="3675888"/>
            <a:ext cx="3840480" cy="548640"/>
          </a:xfrm>
          <a:prstGeom prst="rect">
            <a:avLst/>
          </a:prstGeom>
          <a:noFill/>
          <a:ln/>
        </p:spPr>
        <p:txBody>
          <a:bodyPr wrap="square" lIns="0" tIns="0" rIns="0" bIns="0" rtlCol="0" anchor="t"/>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What we tested, dropped, and learned since the midterm</a:t>
            </a:r>
            <a:endParaRPr lang="en-US" sz="1150" dirty="0"/>
          </a:p>
        </p:txBody>
      </p:sp>
      <p:sp>
        <p:nvSpPr>
          <p:cNvPr id="16" name="Shape 14"/>
          <p:cNvSpPr/>
          <p:nvPr/>
        </p:nvSpPr>
        <p:spPr>
          <a:xfrm>
            <a:off x="5852160" y="3108960"/>
            <a:ext cx="5074920" cy="1188720"/>
          </a:xfrm>
          <a:prstGeom prst="roundRect">
            <a:avLst>
              <a:gd name="adj" fmla="val 6154"/>
            </a:avLst>
          </a:prstGeom>
          <a:solidFill>
            <a:srgbClr val="FAFAF8"/>
          </a:solidFill>
          <a:ln w="12700">
            <a:solidFill>
              <a:srgbClr val="D6D6D2"/>
            </a:solidFill>
            <a:prstDash val="solid"/>
          </a:ln>
        </p:spPr>
        <p:txBody>
          <a:bodyPr/>
          <a:lstStyle/>
          <a:p>
            <a:endParaRPr lang="en-US"/>
          </a:p>
        </p:txBody>
      </p:sp>
      <p:sp>
        <p:nvSpPr>
          <p:cNvPr id="17" name="Text 15"/>
          <p:cNvSpPr/>
          <p:nvPr/>
        </p:nvSpPr>
        <p:spPr>
          <a:xfrm>
            <a:off x="6080760" y="3273552"/>
            <a:ext cx="822960" cy="822960"/>
          </a:xfrm>
          <a:prstGeom prst="rect">
            <a:avLst/>
          </a:prstGeom>
          <a:noFill/>
          <a:ln/>
        </p:spPr>
        <p:txBody>
          <a:bodyPr wrap="square" rtlCol="0" anchor="t"/>
          <a:lstStyle/>
          <a:p>
            <a:pPr marL="0" indent="0">
              <a:buNone/>
            </a:pPr>
            <a:r>
              <a:rPr lang="en-US" sz="3000" b="1" dirty="0">
                <a:solidFill>
                  <a:srgbClr val="B8863A"/>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6858000" y="3291840"/>
            <a:ext cx="3840480" cy="365760"/>
          </a:xfrm>
          <a:prstGeom prst="rect">
            <a:avLst/>
          </a:prstGeom>
          <a:noFill/>
          <a:ln/>
        </p:spPr>
        <p:txBody>
          <a:bodyPr wrap="square" lIns="0" tIns="0" rIns="0" bIns="0" rtlCol="0" anchor="t"/>
          <a:lstStyle/>
          <a:p>
            <a:pPr marL="0" indent="0">
              <a:buNone/>
            </a:pPr>
            <a:r>
              <a:rPr lang="en-US" sz="1600" b="1" dirty="0">
                <a:solidFill>
                  <a:srgbClr val="111111"/>
                </a:solidFill>
                <a:latin typeface="Cambria" pitchFamily="34" charset="0"/>
                <a:ea typeface="Cambria" pitchFamily="34" charset="-122"/>
                <a:cs typeface="Cambria" pitchFamily="34" charset="-120"/>
              </a:rPr>
              <a:t>Development</a:t>
            </a:r>
            <a:endParaRPr lang="en-US" sz="1600" dirty="0"/>
          </a:p>
        </p:txBody>
      </p:sp>
      <p:sp>
        <p:nvSpPr>
          <p:cNvPr id="19" name="Text 17"/>
          <p:cNvSpPr/>
          <p:nvPr/>
        </p:nvSpPr>
        <p:spPr>
          <a:xfrm>
            <a:off x="6858000" y="3675888"/>
            <a:ext cx="3840480" cy="548640"/>
          </a:xfrm>
          <a:prstGeom prst="rect">
            <a:avLst/>
          </a:prstGeom>
          <a:noFill/>
          <a:ln/>
        </p:spPr>
        <p:txBody>
          <a:bodyPr wrap="square" lIns="0" tIns="0" rIns="0" bIns="0" rtlCol="0" anchor="t"/>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How the front end and back end actually work</a:t>
            </a:r>
            <a:endParaRPr lang="en-US" sz="1150" dirty="0"/>
          </a:p>
        </p:txBody>
      </p:sp>
      <p:sp>
        <p:nvSpPr>
          <p:cNvPr id="20" name="Shape 18"/>
          <p:cNvSpPr/>
          <p:nvPr/>
        </p:nvSpPr>
        <p:spPr>
          <a:xfrm>
            <a:off x="457200" y="4526280"/>
            <a:ext cx="5074920" cy="1188720"/>
          </a:xfrm>
          <a:prstGeom prst="roundRect">
            <a:avLst>
              <a:gd name="adj" fmla="val 6154"/>
            </a:avLst>
          </a:prstGeom>
          <a:solidFill>
            <a:srgbClr val="FAFAF8"/>
          </a:solidFill>
          <a:ln w="12700">
            <a:solidFill>
              <a:srgbClr val="D6D6D2"/>
            </a:solidFill>
            <a:prstDash val="solid"/>
          </a:ln>
        </p:spPr>
        <p:txBody>
          <a:bodyPr/>
          <a:lstStyle/>
          <a:p>
            <a:endParaRPr lang="en-US"/>
          </a:p>
        </p:txBody>
      </p:sp>
      <p:sp>
        <p:nvSpPr>
          <p:cNvPr id="21" name="Text 19"/>
          <p:cNvSpPr/>
          <p:nvPr/>
        </p:nvSpPr>
        <p:spPr>
          <a:xfrm>
            <a:off x="685800" y="4690872"/>
            <a:ext cx="822960" cy="822960"/>
          </a:xfrm>
          <a:prstGeom prst="rect">
            <a:avLst/>
          </a:prstGeom>
          <a:noFill/>
          <a:ln/>
        </p:spPr>
        <p:txBody>
          <a:bodyPr wrap="square" rtlCol="0" anchor="t"/>
          <a:lstStyle/>
          <a:p>
            <a:pPr marL="0" indent="0">
              <a:buNone/>
            </a:pPr>
            <a:r>
              <a:rPr lang="en-US" sz="3000" b="1" dirty="0">
                <a:solidFill>
                  <a:srgbClr val="B8863A"/>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1463040" y="4709160"/>
            <a:ext cx="3840480" cy="365760"/>
          </a:xfrm>
          <a:prstGeom prst="rect">
            <a:avLst/>
          </a:prstGeom>
          <a:noFill/>
          <a:ln/>
        </p:spPr>
        <p:txBody>
          <a:bodyPr wrap="square" lIns="0" tIns="0" rIns="0" bIns="0" rtlCol="0" anchor="t"/>
          <a:lstStyle/>
          <a:p>
            <a:pPr marL="0" indent="0">
              <a:buNone/>
            </a:pPr>
            <a:r>
              <a:rPr lang="en-US" sz="1600" b="1" dirty="0">
                <a:solidFill>
                  <a:srgbClr val="111111"/>
                </a:solidFill>
                <a:latin typeface="Cambria" pitchFamily="34" charset="0"/>
                <a:ea typeface="Cambria" pitchFamily="34" charset="-122"/>
                <a:cs typeface="Cambria" pitchFamily="34" charset="-120"/>
              </a:rPr>
              <a:t>Final outcome</a:t>
            </a:r>
            <a:endParaRPr lang="en-US" sz="1600" dirty="0"/>
          </a:p>
        </p:txBody>
      </p:sp>
      <p:sp>
        <p:nvSpPr>
          <p:cNvPr id="23" name="Text 21"/>
          <p:cNvSpPr/>
          <p:nvPr/>
        </p:nvSpPr>
        <p:spPr>
          <a:xfrm>
            <a:off x="1463040" y="5093208"/>
            <a:ext cx="3840480" cy="548640"/>
          </a:xfrm>
          <a:prstGeom prst="rect">
            <a:avLst/>
          </a:prstGeom>
          <a:noFill/>
          <a:ln/>
        </p:spPr>
        <p:txBody>
          <a:bodyPr wrap="square" lIns="0" tIns="0" rIns="0" bIns="0" rtlCol="0" anchor="t"/>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What's built, working, and demoable today</a:t>
            </a:r>
            <a:endParaRPr lang="en-US" sz="1150" dirty="0"/>
          </a:p>
        </p:txBody>
      </p:sp>
      <p:sp>
        <p:nvSpPr>
          <p:cNvPr id="24" name="Shape 22"/>
          <p:cNvSpPr/>
          <p:nvPr/>
        </p:nvSpPr>
        <p:spPr>
          <a:xfrm>
            <a:off x="5852160" y="4526280"/>
            <a:ext cx="5074920" cy="1188720"/>
          </a:xfrm>
          <a:prstGeom prst="roundRect">
            <a:avLst>
              <a:gd name="adj" fmla="val 6154"/>
            </a:avLst>
          </a:prstGeom>
          <a:solidFill>
            <a:srgbClr val="FAFAF8"/>
          </a:solidFill>
          <a:ln w="12700">
            <a:solidFill>
              <a:srgbClr val="D6D6D2"/>
            </a:solidFill>
            <a:prstDash val="solid"/>
          </a:ln>
        </p:spPr>
        <p:txBody>
          <a:bodyPr/>
          <a:lstStyle/>
          <a:p>
            <a:endParaRPr lang="en-US"/>
          </a:p>
        </p:txBody>
      </p:sp>
      <p:sp>
        <p:nvSpPr>
          <p:cNvPr id="25" name="Text 23"/>
          <p:cNvSpPr/>
          <p:nvPr/>
        </p:nvSpPr>
        <p:spPr>
          <a:xfrm>
            <a:off x="6080760" y="4690872"/>
            <a:ext cx="822960" cy="822960"/>
          </a:xfrm>
          <a:prstGeom prst="rect">
            <a:avLst/>
          </a:prstGeom>
          <a:noFill/>
          <a:ln/>
        </p:spPr>
        <p:txBody>
          <a:bodyPr wrap="square" rtlCol="0" anchor="t"/>
          <a:lstStyle/>
          <a:p>
            <a:pPr marL="0" indent="0">
              <a:buNone/>
            </a:pPr>
            <a:r>
              <a:rPr lang="en-US" sz="3000" b="1" dirty="0">
                <a:solidFill>
                  <a:srgbClr val="B8863A"/>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6858000" y="4709160"/>
            <a:ext cx="3840480" cy="365760"/>
          </a:xfrm>
          <a:prstGeom prst="rect">
            <a:avLst/>
          </a:prstGeom>
          <a:noFill/>
          <a:ln/>
        </p:spPr>
        <p:txBody>
          <a:bodyPr wrap="square" lIns="0" tIns="0" rIns="0" bIns="0" rtlCol="0" anchor="t"/>
          <a:lstStyle/>
          <a:p>
            <a:pPr marL="0" indent="0">
              <a:buNone/>
            </a:pPr>
            <a:r>
              <a:rPr lang="en-US" sz="1600" b="1" dirty="0">
                <a:solidFill>
                  <a:srgbClr val="111111"/>
                </a:solidFill>
                <a:latin typeface="Cambria" pitchFamily="34" charset="0"/>
                <a:ea typeface="Cambria" pitchFamily="34" charset="-122"/>
                <a:cs typeface="Cambria" pitchFamily="34" charset="-120"/>
              </a:rPr>
              <a:t>Strengths &amp; limitations</a:t>
            </a:r>
            <a:endParaRPr lang="en-US" sz="1600" dirty="0"/>
          </a:p>
        </p:txBody>
      </p:sp>
      <p:sp>
        <p:nvSpPr>
          <p:cNvPr id="27" name="Text 25"/>
          <p:cNvSpPr/>
          <p:nvPr/>
        </p:nvSpPr>
        <p:spPr>
          <a:xfrm>
            <a:off x="6858000" y="5093208"/>
            <a:ext cx="3840480" cy="548640"/>
          </a:xfrm>
          <a:prstGeom prst="rect">
            <a:avLst/>
          </a:prstGeom>
          <a:noFill/>
          <a:ln/>
        </p:spPr>
        <p:txBody>
          <a:bodyPr wrap="square" lIns="0" tIns="0" rIns="0" bIns="0" rtlCol="0" anchor="t"/>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An honest account, not a highlight reel</a:t>
            </a:r>
            <a:endParaRPr lang="en-US" sz="1150" dirty="0"/>
          </a:p>
        </p:txBody>
      </p:sp>
      <p:sp>
        <p:nvSpPr>
          <p:cNvPr id="28" name="Text 26"/>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9" name="Text 27"/>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THE PROBLEM</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A city built for those who can keep up</a:t>
            </a:r>
            <a:endParaRPr lang="en-US" sz="2700" dirty="0"/>
          </a:p>
        </p:txBody>
      </p:sp>
      <p:sp>
        <p:nvSpPr>
          <p:cNvPr id="6" name="Text 4"/>
          <p:cNvSpPr/>
          <p:nvPr/>
        </p:nvSpPr>
        <p:spPr>
          <a:xfrm>
            <a:off x="457200" y="1508760"/>
            <a:ext cx="6309360" cy="1920240"/>
          </a:xfrm>
          <a:prstGeom prst="rect">
            <a:avLst/>
          </a:prstGeom>
          <a:noFill/>
          <a:ln/>
        </p:spPr>
        <p:txBody>
          <a:bodyPr wrap="square" rtlCol="0" anchor="ctr"/>
          <a:lstStyle/>
          <a:p>
            <a:pPr marL="0" indent="0">
              <a:lnSpc>
                <a:spcPts val="2500"/>
              </a:lnSpc>
              <a:buNone/>
            </a:pPr>
            <a:r>
              <a:rPr lang="en-US" sz="1700" i="1" dirty="0">
                <a:solidFill>
                  <a:srgbClr val="111111"/>
                </a:solidFill>
                <a:latin typeface="Cambria" pitchFamily="34" charset="0"/>
                <a:ea typeface="Cambria" pitchFamily="34" charset="-122"/>
                <a:cs typeface="Cambria" pitchFamily="34" charset="-120"/>
              </a:rPr>
              <a:t>A 74-year-old widow in a one-room rental flat manages her own CPF and bills online. A message arrives sounding exactly like a CPF officer, warning her account freezes within the hour. There's no counter to walk up to — just her, a voice she can't verify, and minutes to decide.</a:t>
            </a:r>
            <a:endParaRPr lang="en-US" sz="1700" dirty="0"/>
          </a:p>
        </p:txBody>
      </p:sp>
      <p:sp>
        <p:nvSpPr>
          <p:cNvPr id="7" name="Text 5"/>
          <p:cNvSpPr/>
          <p:nvPr/>
        </p:nvSpPr>
        <p:spPr>
          <a:xfrm>
            <a:off x="457200" y="3611880"/>
            <a:ext cx="6309360" cy="914400"/>
          </a:xfrm>
          <a:prstGeom prst="rect">
            <a:avLst/>
          </a:prstGeom>
          <a:noFill/>
          <a:ln/>
        </p:spPr>
        <p:txBody>
          <a:bodyPr wrap="square" rtlCol="0" anchor="ctr"/>
          <a:lstStyle/>
          <a:p>
            <a:pPr marL="0" indent="0">
              <a:lnSpc>
                <a:spcPts val="1800"/>
              </a:lnSpc>
              <a:buNone/>
            </a:pPr>
            <a:r>
              <a:rPr lang="en-US" sz="1300" dirty="0">
                <a:solidFill>
                  <a:srgbClr val="555555"/>
                </a:solidFill>
                <a:latin typeface="Calibri" pitchFamily="34" charset="0"/>
                <a:ea typeface="Calibri" pitchFamily="34" charset="-122"/>
                <a:cs typeface="Calibri" pitchFamily="34" charset="-120"/>
              </a:rPr>
              <a:t>Partial digital fluency, met by AI that can now personalise deception at scale — producing deception fatigue and a retreat from digital life exactly when Singapore needs everyone online.</a:t>
            </a:r>
            <a:endParaRPr lang="en-US" sz="1300" dirty="0"/>
          </a:p>
        </p:txBody>
      </p:sp>
      <p:sp>
        <p:nvSpPr>
          <p:cNvPr id="8" name="Shape 6"/>
          <p:cNvSpPr/>
          <p:nvPr/>
        </p:nvSpPr>
        <p:spPr>
          <a:xfrm>
            <a:off x="7040880" y="1508760"/>
            <a:ext cx="4663440" cy="1280160"/>
          </a:xfrm>
          <a:prstGeom prst="roundRect">
            <a:avLst>
              <a:gd name="adj" fmla="val 5714"/>
            </a:avLst>
          </a:prstGeom>
          <a:solidFill>
            <a:srgbClr val="EDEDEA"/>
          </a:solidFill>
          <a:ln/>
        </p:spPr>
        <p:txBody>
          <a:bodyPr/>
          <a:lstStyle/>
          <a:p>
            <a:endParaRPr lang="en-US"/>
          </a:p>
        </p:txBody>
      </p:sp>
      <p:sp>
        <p:nvSpPr>
          <p:cNvPr id="9" name="Text 7"/>
          <p:cNvSpPr/>
          <p:nvPr/>
        </p:nvSpPr>
        <p:spPr>
          <a:xfrm>
            <a:off x="7269480" y="1618488"/>
            <a:ext cx="4206240" cy="594360"/>
          </a:xfrm>
          <a:prstGeom prst="rect">
            <a:avLst/>
          </a:prstGeom>
          <a:noFill/>
          <a:ln/>
        </p:spPr>
        <p:txBody>
          <a:bodyPr wrap="square" lIns="0" tIns="0" rIns="0" bIns="0" rtlCol="0" anchor="ctr"/>
          <a:lstStyle/>
          <a:p>
            <a:pPr marL="0" indent="0">
              <a:buNone/>
            </a:pPr>
            <a:r>
              <a:rPr lang="en-US" sz="3000" b="1" dirty="0">
                <a:solidFill>
                  <a:srgbClr val="B8863A"/>
                </a:solidFill>
                <a:latin typeface="Cambria" pitchFamily="34" charset="0"/>
                <a:ea typeface="Cambria" pitchFamily="34" charset="-122"/>
                <a:cs typeface="Cambria" pitchFamily="34" charset="-120"/>
              </a:rPr>
              <a:t>S$37,053</a:t>
            </a:r>
            <a:endParaRPr lang="en-US" sz="3000" dirty="0"/>
          </a:p>
        </p:txBody>
      </p:sp>
      <p:sp>
        <p:nvSpPr>
          <p:cNvPr id="10" name="Text 8"/>
          <p:cNvSpPr/>
          <p:nvPr/>
        </p:nvSpPr>
        <p:spPr>
          <a:xfrm>
            <a:off x="7269480" y="2240280"/>
            <a:ext cx="4206240" cy="502920"/>
          </a:xfrm>
          <a:prstGeom prst="rect">
            <a:avLst/>
          </a:prstGeom>
          <a:noFill/>
          <a:ln/>
        </p:spPr>
        <p:txBody>
          <a:bodyPr wrap="square" lIns="0" tIns="0" rIns="0" bIns="0" rtlCol="0" anchor="ctr"/>
          <a:lstStyle/>
          <a:p>
            <a:pPr marL="0" indent="0">
              <a:lnSpc>
                <a:spcPts val="1400"/>
              </a:lnSpc>
              <a:buNone/>
            </a:pPr>
            <a:r>
              <a:rPr lang="en-US" sz="1100" dirty="0">
                <a:solidFill>
                  <a:srgbClr val="555555"/>
                </a:solidFill>
                <a:latin typeface="Calibri" pitchFamily="34" charset="0"/>
                <a:ea typeface="Calibri" pitchFamily="34" charset="-122"/>
                <a:cs typeface="Calibri" pitchFamily="34" charset="-120"/>
              </a:rPr>
              <a:t>average loss per elderly victim — highest of any age group</a:t>
            </a:r>
            <a:endParaRPr lang="en-US" sz="1100" dirty="0"/>
          </a:p>
        </p:txBody>
      </p:sp>
      <p:sp>
        <p:nvSpPr>
          <p:cNvPr id="11" name="Shape 9"/>
          <p:cNvSpPr/>
          <p:nvPr/>
        </p:nvSpPr>
        <p:spPr>
          <a:xfrm>
            <a:off x="7040880" y="3017520"/>
            <a:ext cx="4663440" cy="1280160"/>
          </a:xfrm>
          <a:prstGeom prst="roundRect">
            <a:avLst>
              <a:gd name="adj" fmla="val 5714"/>
            </a:avLst>
          </a:prstGeom>
          <a:solidFill>
            <a:srgbClr val="EDEDEA"/>
          </a:solidFill>
          <a:ln/>
        </p:spPr>
        <p:txBody>
          <a:bodyPr/>
          <a:lstStyle/>
          <a:p>
            <a:endParaRPr lang="en-US"/>
          </a:p>
        </p:txBody>
      </p:sp>
      <p:sp>
        <p:nvSpPr>
          <p:cNvPr id="12" name="Text 10"/>
          <p:cNvSpPr/>
          <p:nvPr/>
        </p:nvSpPr>
        <p:spPr>
          <a:xfrm>
            <a:off x="7269480" y="3127248"/>
            <a:ext cx="4206240" cy="594360"/>
          </a:xfrm>
          <a:prstGeom prst="rect">
            <a:avLst/>
          </a:prstGeom>
          <a:noFill/>
          <a:ln/>
        </p:spPr>
        <p:txBody>
          <a:bodyPr wrap="square" lIns="0" tIns="0" rIns="0" bIns="0" rtlCol="0" anchor="ctr"/>
          <a:lstStyle/>
          <a:p>
            <a:pPr marL="0" indent="0">
              <a:buNone/>
            </a:pPr>
            <a:r>
              <a:rPr lang="en-US" sz="3000" b="1" dirty="0">
                <a:solidFill>
                  <a:srgbClr val="B8863A"/>
                </a:solidFill>
                <a:latin typeface="Cambria" pitchFamily="34" charset="0"/>
                <a:ea typeface="Cambria" pitchFamily="34" charset="-122"/>
                <a:cs typeface="Cambria" pitchFamily="34" charset="-120"/>
              </a:rPr>
              <a:t>81.8%</a:t>
            </a:r>
            <a:endParaRPr lang="en-US" sz="3000" dirty="0"/>
          </a:p>
        </p:txBody>
      </p:sp>
      <p:sp>
        <p:nvSpPr>
          <p:cNvPr id="13" name="Text 11"/>
          <p:cNvSpPr/>
          <p:nvPr/>
        </p:nvSpPr>
        <p:spPr>
          <a:xfrm>
            <a:off x="7269480" y="3749040"/>
            <a:ext cx="4206240" cy="502920"/>
          </a:xfrm>
          <a:prstGeom prst="rect">
            <a:avLst/>
          </a:prstGeom>
          <a:noFill/>
          <a:ln/>
        </p:spPr>
        <p:txBody>
          <a:bodyPr wrap="square" lIns="0" tIns="0" rIns="0" bIns="0" rtlCol="0" anchor="ctr"/>
          <a:lstStyle/>
          <a:p>
            <a:pPr marL="0" indent="0">
              <a:lnSpc>
                <a:spcPts val="1400"/>
              </a:lnSpc>
              <a:buNone/>
            </a:pPr>
            <a:r>
              <a:rPr lang="en-US" sz="1100" dirty="0">
                <a:solidFill>
                  <a:srgbClr val="555555"/>
                </a:solidFill>
                <a:latin typeface="Calibri" pitchFamily="34" charset="0"/>
                <a:ea typeface="Calibri" pitchFamily="34" charset="-122"/>
                <a:cs typeface="Calibri" pitchFamily="34" charset="-120"/>
              </a:rPr>
              <a:t>of cases where victims transferred money themselves — manipulated, not hacked</a:t>
            </a:r>
            <a:endParaRPr lang="en-US" sz="1100" dirty="0"/>
          </a:p>
        </p:txBody>
      </p:sp>
      <p:sp>
        <p:nvSpPr>
          <p:cNvPr id="14" name="Text 12"/>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15" name="Text 13"/>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457200" y="411480"/>
            <a:ext cx="7315200" cy="274320"/>
          </a:xfrm>
          <a:prstGeom prst="rect">
            <a:avLst/>
          </a:prstGeom>
          <a:noFill/>
          <a:ln/>
        </p:spPr>
        <p:txBody>
          <a:bodyPr wrap="square"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02 — THE AI ARMS RACE</a:t>
            </a:r>
            <a:endParaRPr lang="en-US" sz="1100" dirty="0"/>
          </a:p>
        </p:txBody>
      </p:sp>
      <p:sp>
        <p:nvSpPr>
          <p:cNvPr id="3" name="Text 1"/>
          <p:cNvSpPr/>
          <p:nvPr/>
        </p:nvSpPr>
        <p:spPr>
          <a:xfrm>
            <a:off x="457200" y="685800"/>
            <a:ext cx="10058400" cy="59436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AI got the scammer here first</a:t>
            </a:r>
            <a:endParaRPr lang="en-US" sz="2700" dirty="0"/>
          </a:p>
        </p:txBody>
      </p:sp>
      <p:sp>
        <p:nvSpPr>
          <p:cNvPr id="4" name="Shape 2"/>
          <p:cNvSpPr/>
          <p:nvPr/>
        </p:nvSpPr>
        <p:spPr>
          <a:xfrm>
            <a:off x="457200" y="1600200"/>
            <a:ext cx="5349240" cy="3794760"/>
          </a:xfrm>
          <a:prstGeom prst="roundRect">
            <a:avLst>
              <a:gd name="adj" fmla="val 1928"/>
            </a:avLst>
          </a:prstGeom>
          <a:solidFill>
            <a:srgbClr val="1C1C1C"/>
          </a:solidFill>
          <a:ln w="12700">
            <a:solidFill>
              <a:srgbClr val="B8563F"/>
            </a:solidFill>
            <a:prstDash val="solid"/>
          </a:ln>
        </p:spPr>
        <p:txBody>
          <a:bodyPr/>
          <a:lstStyle/>
          <a:p>
            <a:endParaRPr lang="en-US"/>
          </a:p>
        </p:txBody>
      </p:sp>
      <p:sp>
        <p:nvSpPr>
          <p:cNvPr id="5" name="Text 3"/>
          <p:cNvSpPr/>
          <p:nvPr/>
        </p:nvSpPr>
        <p:spPr>
          <a:xfrm>
            <a:off x="777240" y="1801368"/>
            <a:ext cx="3657600" cy="274320"/>
          </a:xfrm>
          <a:prstGeom prst="rect">
            <a:avLst/>
          </a:prstGeom>
          <a:noFill/>
          <a:ln/>
        </p:spPr>
        <p:txBody>
          <a:bodyPr wrap="square" rtlCol="0" anchor="ctr"/>
          <a:lstStyle/>
          <a:p>
            <a:pPr marL="0" indent="0">
              <a:buNone/>
            </a:pPr>
            <a:r>
              <a:rPr lang="en-US" sz="1000" kern="0" spc="150" dirty="0">
                <a:solidFill>
                  <a:srgbClr val="B8563F"/>
                </a:solidFill>
                <a:latin typeface="Courier New" pitchFamily="34" charset="0"/>
                <a:ea typeface="Courier New" pitchFamily="34" charset="-122"/>
                <a:cs typeface="Courier New" pitchFamily="34" charset="-120"/>
              </a:rPr>
              <a:t>THEIR AI</a:t>
            </a:r>
            <a:endParaRPr lang="en-US" sz="1000" dirty="0"/>
          </a:p>
        </p:txBody>
      </p:sp>
      <p:sp>
        <p:nvSpPr>
          <p:cNvPr id="6" name="Text 4"/>
          <p:cNvSpPr/>
          <p:nvPr/>
        </p:nvSpPr>
        <p:spPr>
          <a:xfrm>
            <a:off x="777240" y="2075688"/>
            <a:ext cx="4572000" cy="45720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Scaling deception</a:t>
            </a:r>
            <a:endParaRPr lang="en-US" sz="1900" dirty="0"/>
          </a:p>
        </p:txBody>
      </p:sp>
      <p:sp>
        <p:nvSpPr>
          <p:cNvPr id="7" name="Text 5"/>
          <p:cNvSpPr/>
          <p:nvPr/>
        </p:nvSpPr>
        <p:spPr>
          <a:xfrm>
            <a:off x="777240" y="2651760"/>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Harvests leaked data &amp; social media to profile one target</a:t>
            </a:r>
            <a:endParaRPr lang="en-US" sz="1250" dirty="0"/>
          </a:p>
        </p:txBody>
      </p:sp>
      <p:sp>
        <p:nvSpPr>
          <p:cNvPr id="8" name="Text 6"/>
          <p:cNvSpPr/>
          <p:nvPr/>
        </p:nvSpPr>
        <p:spPr>
          <a:xfrm>
            <a:off x="777240" y="3273552"/>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LLMs draft a personalised script in seconds</a:t>
            </a:r>
            <a:endParaRPr lang="en-US" sz="1250" dirty="0"/>
          </a:p>
        </p:txBody>
      </p:sp>
      <p:sp>
        <p:nvSpPr>
          <p:cNvPr id="9" name="Text 7"/>
          <p:cNvSpPr/>
          <p:nvPr/>
        </p:nvSpPr>
        <p:spPr>
          <a:xfrm>
            <a:off x="777240" y="3895344"/>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~3 seconds of audio clones a real voice convincingly</a:t>
            </a:r>
            <a:endParaRPr lang="en-US" sz="1250" dirty="0"/>
          </a:p>
        </p:txBody>
      </p:sp>
      <p:sp>
        <p:nvSpPr>
          <p:cNvPr id="10" name="Text 8"/>
          <p:cNvSpPr/>
          <p:nvPr/>
        </p:nvSpPr>
        <p:spPr>
          <a:xfrm>
            <a:off x="777240" y="4517136"/>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"Scam-as-a-service" kits rent for US$60/month</a:t>
            </a:r>
            <a:endParaRPr lang="en-US" sz="1250" dirty="0"/>
          </a:p>
        </p:txBody>
      </p:sp>
      <p:sp>
        <p:nvSpPr>
          <p:cNvPr id="11" name="Shape 9"/>
          <p:cNvSpPr/>
          <p:nvPr/>
        </p:nvSpPr>
        <p:spPr>
          <a:xfrm>
            <a:off x="6080760" y="1600200"/>
            <a:ext cx="5349240" cy="3794760"/>
          </a:xfrm>
          <a:prstGeom prst="roundRect">
            <a:avLst>
              <a:gd name="adj" fmla="val 1928"/>
            </a:avLst>
          </a:prstGeom>
          <a:solidFill>
            <a:srgbClr val="1C1C1C"/>
          </a:solidFill>
          <a:ln w="12700">
            <a:solidFill>
              <a:srgbClr val="4F7A55"/>
            </a:solidFill>
            <a:prstDash val="solid"/>
          </a:ln>
        </p:spPr>
        <p:txBody>
          <a:bodyPr/>
          <a:lstStyle/>
          <a:p>
            <a:endParaRPr lang="en-US"/>
          </a:p>
        </p:txBody>
      </p:sp>
      <p:sp>
        <p:nvSpPr>
          <p:cNvPr id="12" name="Text 10"/>
          <p:cNvSpPr/>
          <p:nvPr/>
        </p:nvSpPr>
        <p:spPr>
          <a:xfrm>
            <a:off x="6400800" y="1801368"/>
            <a:ext cx="3657600" cy="274320"/>
          </a:xfrm>
          <a:prstGeom prst="rect">
            <a:avLst/>
          </a:prstGeom>
          <a:noFill/>
          <a:ln/>
        </p:spPr>
        <p:txBody>
          <a:bodyPr wrap="square" rtlCol="0" anchor="ctr"/>
          <a:lstStyle/>
          <a:p>
            <a:pPr marL="0" indent="0">
              <a:buNone/>
            </a:pPr>
            <a:r>
              <a:rPr lang="en-US" sz="1000" kern="0" spc="150" dirty="0">
                <a:solidFill>
                  <a:srgbClr val="4F7A55"/>
                </a:solidFill>
                <a:latin typeface="Courier New" pitchFamily="34" charset="0"/>
                <a:ea typeface="Courier New" pitchFamily="34" charset="-122"/>
                <a:cs typeface="Courier New" pitchFamily="34" charset="-120"/>
              </a:rPr>
              <a:t>OUR AI</a:t>
            </a:r>
            <a:endParaRPr lang="en-US" sz="1000" dirty="0"/>
          </a:p>
        </p:txBody>
      </p:sp>
      <p:sp>
        <p:nvSpPr>
          <p:cNvPr id="13" name="Text 11"/>
          <p:cNvSpPr/>
          <p:nvPr/>
        </p:nvSpPr>
        <p:spPr>
          <a:xfrm>
            <a:off x="6400800" y="2075688"/>
            <a:ext cx="4572000" cy="45720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Supporting judgement</a:t>
            </a:r>
            <a:endParaRPr lang="en-US" sz="1900" dirty="0"/>
          </a:p>
        </p:txBody>
      </p:sp>
      <p:sp>
        <p:nvSpPr>
          <p:cNvPr id="14" name="Text 12"/>
          <p:cNvSpPr/>
          <p:nvPr/>
        </p:nvSpPr>
        <p:spPr>
          <a:xfrm>
            <a:off x="6400800" y="2651760"/>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Reads for manipulation tactics, not keyword blacklists</a:t>
            </a:r>
            <a:endParaRPr lang="en-US" sz="1250" dirty="0"/>
          </a:p>
        </p:txBody>
      </p:sp>
      <p:sp>
        <p:nvSpPr>
          <p:cNvPr id="15" name="Text 13"/>
          <p:cNvSpPr/>
          <p:nvPr/>
        </p:nvSpPr>
        <p:spPr>
          <a:xfrm>
            <a:off x="6400800" y="3273552"/>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Multimodal: checks typed text, photos, and speech alike</a:t>
            </a:r>
            <a:endParaRPr lang="en-US" sz="1250" dirty="0"/>
          </a:p>
        </p:txBody>
      </p:sp>
      <p:sp>
        <p:nvSpPr>
          <p:cNvPr id="16" name="Text 14"/>
          <p:cNvSpPr/>
          <p:nvPr/>
        </p:nvSpPr>
        <p:spPr>
          <a:xfrm>
            <a:off x="6400800" y="3895344"/>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Answers warning / unsure / safe — never fakes certainty</a:t>
            </a:r>
            <a:endParaRPr lang="en-US" sz="1250" dirty="0"/>
          </a:p>
        </p:txBody>
      </p:sp>
      <p:sp>
        <p:nvSpPr>
          <p:cNvPr id="17" name="Text 15"/>
          <p:cNvSpPr/>
          <p:nvPr/>
        </p:nvSpPr>
        <p:spPr>
          <a:xfrm>
            <a:off x="6400800" y="4517136"/>
            <a:ext cx="4709160" cy="566928"/>
          </a:xfrm>
          <a:prstGeom prst="rect">
            <a:avLst/>
          </a:prstGeom>
          <a:noFill/>
          <a:ln/>
        </p:spPr>
        <p:txBody>
          <a:bodyPr wrap="square" rtlCol="0" anchor="t"/>
          <a:lstStyle/>
          <a:p>
            <a:pPr marL="0" indent="0">
              <a:lnSpc>
                <a:spcPts val="1600"/>
              </a:lnSpc>
              <a:buNone/>
            </a:pPr>
            <a:r>
              <a:rPr lang="en-US" sz="1250" dirty="0">
                <a:solidFill>
                  <a:srgbClr val="DADADA"/>
                </a:solidFill>
                <a:latin typeface="Calibri" pitchFamily="34" charset="0"/>
                <a:ea typeface="Calibri" pitchFamily="34" charset="-122"/>
                <a:cs typeface="Calibri" pitchFamily="34" charset="-120"/>
              </a:rPr>
              <a:t>—  Explains each tactic in plain language, then hands off to a person</a:t>
            </a:r>
            <a:endParaRPr lang="en-US" sz="1250" dirty="0"/>
          </a:p>
        </p:txBody>
      </p:sp>
      <p:sp>
        <p:nvSpPr>
          <p:cNvPr id="18" name="Text 16"/>
          <p:cNvSpPr/>
          <p:nvPr/>
        </p:nvSpPr>
        <p:spPr>
          <a:xfrm>
            <a:off x="457200" y="5623560"/>
            <a:ext cx="10607040" cy="685800"/>
          </a:xfrm>
          <a:prstGeom prst="rect">
            <a:avLst/>
          </a:prstGeom>
          <a:noFill/>
          <a:ln/>
        </p:spPr>
        <p:txBody>
          <a:bodyPr wrap="square" rtlCol="0" anchor="ctr"/>
          <a:lstStyle/>
          <a:p>
            <a:pPr marL="0" indent="0">
              <a:lnSpc>
                <a:spcPts val="1800"/>
              </a:lnSpc>
              <a:buNone/>
            </a:pPr>
            <a:r>
              <a:rPr lang="en-US" sz="1350" i="1" dirty="0">
                <a:solidFill>
                  <a:srgbClr val="B8863A"/>
                </a:solidFill>
                <a:latin typeface="Cambria" pitchFamily="34" charset="0"/>
                <a:ea typeface="Cambria" pitchFamily="34" charset="-122"/>
                <a:cs typeface="Cambria" pitchFamily="34" charset="-120"/>
              </a:rPr>
              <a:t>Static blacklists lose this race by design — they defend yesterday's scam. We don't try to out-race generative AI on speed; we change what the contest is about, from detection speed to trust and judgement support.</a:t>
            </a:r>
            <a:endParaRPr lang="en-US" sz="1350" dirty="0"/>
          </a:p>
        </p:txBody>
      </p:sp>
      <p:sp>
        <p:nvSpPr>
          <p:cNvPr id="19" name="Shape 17"/>
          <p:cNvSpPr/>
          <p:nvPr/>
        </p:nvSpPr>
        <p:spPr>
          <a:xfrm>
            <a:off x="9052560" y="438912"/>
            <a:ext cx="265176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20" name="Text 18"/>
          <p:cNvSpPr/>
          <p:nvPr/>
        </p:nvSpPr>
        <p:spPr>
          <a:xfrm>
            <a:off x="9052560" y="438912"/>
            <a:ext cx="265176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ADVERSARIAL + SPECULATIVE DESIGN</a:t>
            </a:r>
            <a:endParaRPr lang="en-US" sz="850" dirty="0"/>
          </a:p>
        </p:txBody>
      </p:sp>
      <p:sp>
        <p:nvSpPr>
          <p:cNvPr id="21" name="Text 19"/>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2" name="Text 20"/>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RESEARCH &amp; ANALYSIS</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What the evidence — and the silence — told us</a:t>
            </a:r>
            <a:endParaRPr lang="en-US" sz="2700" dirty="0"/>
          </a:p>
        </p:txBody>
      </p:sp>
      <p:sp>
        <p:nvSpPr>
          <p:cNvPr id="6" name="Shape 4"/>
          <p:cNvSpPr/>
          <p:nvPr/>
        </p:nvSpPr>
        <p:spPr>
          <a:xfrm>
            <a:off x="457200" y="1554480"/>
            <a:ext cx="3566160" cy="1417320"/>
          </a:xfrm>
          <a:prstGeom prst="roundRect">
            <a:avLst>
              <a:gd name="adj" fmla="val 5161"/>
            </a:avLst>
          </a:prstGeom>
          <a:solidFill>
            <a:srgbClr val="FAFAF8"/>
          </a:solidFill>
          <a:ln w="12700">
            <a:solidFill>
              <a:srgbClr val="D6D6D2"/>
            </a:solidFill>
            <a:prstDash val="solid"/>
          </a:ln>
        </p:spPr>
        <p:txBody>
          <a:bodyPr/>
          <a:lstStyle/>
          <a:p>
            <a:endParaRPr lang="en-US"/>
          </a:p>
        </p:txBody>
      </p:sp>
      <p:sp>
        <p:nvSpPr>
          <p:cNvPr id="7" name="Text 5"/>
          <p:cNvSpPr/>
          <p:nvPr/>
        </p:nvSpPr>
        <p:spPr>
          <a:xfrm>
            <a:off x="685800" y="1691640"/>
            <a:ext cx="3108960" cy="594360"/>
          </a:xfrm>
          <a:prstGeom prst="rect">
            <a:avLst/>
          </a:prstGeom>
          <a:noFill/>
          <a:ln/>
        </p:spPr>
        <p:txBody>
          <a:bodyPr wrap="square" lIns="0" tIns="0" rIns="0" bIns="0" rtlCol="0" anchor="ctr"/>
          <a:lstStyle/>
          <a:p>
            <a:pPr marL="0" indent="0">
              <a:buNone/>
            </a:pPr>
            <a:r>
              <a:rPr lang="en-US" sz="2600" b="1" dirty="0">
                <a:solidFill>
                  <a:srgbClr val="B8863A"/>
                </a:solidFill>
                <a:latin typeface="Cambria" pitchFamily="34" charset="0"/>
                <a:ea typeface="Cambria" pitchFamily="34" charset="-122"/>
                <a:cs typeface="Cambria" pitchFamily="34" charset="-120"/>
              </a:rPr>
              <a:t>S$913.1M</a:t>
            </a:r>
            <a:endParaRPr lang="en-US" sz="2600" dirty="0"/>
          </a:p>
        </p:txBody>
      </p:sp>
      <p:sp>
        <p:nvSpPr>
          <p:cNvPr id="8" name="Text 6"/>
          <p:cNvSpPr/>
          <p:nvPr/>
        </p:nvSpPr>
        <p:spPr>
          <a:xfrm>
            <a:off x="685800" y="2286000"/>
            <a:ext cx="3108960" cy="594360"/>
          </a:xfrm>
          <a:prstGeom prst="rect">
            <a:avLst/>
          </a:prstGeom>
          <a:noFill/>
          <a:ln/>
        </p:spPr>
        <p:txBody>
          <a:bodyPr wrap="square" lIns="0" tIns="0" rIns="0" bIns="0" rtlCol="0" anchor="ctr"/>
          <a:lstStyle/>
          <a:p>
            <a:pPr marL="0" indent="0">
              <a:lnSpc>
                <a:spcPts val="1400"/>
              </a:lnSpc>
              <a:buNone/>
            </a:pPr>
            <a:r>
              <a:rPr lang="en-US" sz="1100" dirty="0">
                <a:solidFill>
                  <a:srgbClr val="555555"/>
                </a:solidFill>
                <a:latin typeface="Calibri" pitchFamily="34" charset="0"/>
                <a:ea typeface="Calibri" pitchFamily="34" charset="-122"/>
                <a:cs typeface="Calibri" pitchFamily="34" charset="-120"/>
              </a:rPr>
              <a:t>lost to scams in 2025 — the largest reported crime category</a:t>
            </a:r>
            <a:endParaRPr lang="en-US" sz="1100" dirty="0"/>
          </a:p>
        </p:txBody>
      </p:sp>
      <p:sp>
        <p:nvSpPr>
          <p:cNvPr id="9" name="Shape 7"/>
          <p:cNvSpPr/>
          <p:nvPr/>
        </p:nvSpPr>
        <p:spPr>
          <a:xfrm>
            <a:off x="4251960" y="1554480"/>
            <a:ext cx="3566160" cy="1417320"/>
          </a:xfrm>
          <a:prstGeom prst="roundRect">
            <a:avLst>
              <a:gd name="adj" fmla="val 5161"/>
            </a:avLst>
          </a:prstGeom>
          <a:solidFill>
            <a:srgbClr val="FAFAF8"/>
          </a:solidFill>
          <a:ln w="12700">
            <a:solidFill>
              <a:srgbClr val="D6D6D2"/>
            </a:solidFill>
            <a:prstDash val="solid"/>
          </a:ln>
        </p:spPr>
        <p:txBody>
          <a:bodyPr/>
          <a:lstStyle/>
          <a:p>
            <a:endParaRPr lang="en-US"/>
          </a:p>
        </p:txBody>
      </p:sp>
      <p:sp>
        <p:nvSpPr>
          <p:cNvPr id="10" name="Text 8"/>
          <p:cNvSpPr/>
          <p:nvPr/>
        </p:nvSpPr>
        <p:spPr>
          <a:xfrm>
            <a:off x="4480560" y="1691640"/>
            <a:ext cx="3108960" cy="594360"/>
          </a:xfrm>
          <a:prstGeom prst="rect">
            <a:avLst/>
          </a:prstGeom>
          <a:noFill/>
          <a:ln/>
        </p:spPr>
        <p:txBody>
          <a:bodyPr wrap="square" lIns="0" tIns="0" rIns="0" bIns="0" rtlCol="0" anchor="ctr"/>
          <a:lstStyle/>
          <a:p>
            <a:pPr marL="0" indent="0">
              <a:buNone/>
            </a:pPr>
            <a:r>
              <a:rPr lang="en-US" sz="2600" b="1" dirty="0">
                <a:solidFill>
                  <a:srgbClr val="B8863A"/>
                </a:solidFill>
                <a:latin typeface="Cambria" pitchFamily="34" charset="0"/>
                <a:ea typeface="Cambria" pitchFamily="34" charset="-122"/>
                <a:cs typeface="Cambria" pitchFamily="34" charset="-120"/>
              </a:rPr>
              <a:t>+124%</a:t>
            </a:r>
            <a:endParaRPr lang="en-US" sz="2600" dirty="0"/>
          </a:p>
        </p:txBody>
      </p:sp>
      <p:sp>
        <p:nvSpPr>
          <p:cNvPr id="11" name="Text 9"/>
          <p:cNvSpPr/>
          <p:nvPr/>
        </p:nvSpPr>
        <p:spPr>
          <a:xfrm>
            <a:off x="4480560" y="2286000"/>
            <a:ext cx="3108960" cy="594360"/>
          </a:xfrm>
          <a:prstGeom prst="rect">
            <a:avLst/>
          </a:prstGeom>
          <a:noFill/>
          <a:ln/>
        </p:spPr>
        <p:txBody>
          <a:bodyPr wrap="square" lIns="0" tIns="0" rIns="0" bIns="0" rtlCol="0" anchor="ctr"/>
          <a:lstStyle/>
          <a:p>
            <a:pPr marL="0" indent="0">
              <a:lnSpc>
                <a:spcPts val="1400"/>
              </a:lnSpc>
              <a:buNone/>
            </a:pPr>
            <a:r>
              <a:rPr lang="en-US" sz="1100" dirty="0">
                <a:solidFill>
                  <a:srgbClr val="555555"/>
                </a:solidFill>
                <a:latin typeface="Calibri" pitchFamily="34" charset="0"/>
                <a:ea typeface="Calibri" pitchFamily="34" charset="-122"/>
                <a:cs typeface="Calibri" pitchFamily="34" charset="-120"/>
              </a:rPr>
              <a:t>rise in government-impersonation cases year-on-year</a:t>
            </a:r>
            <a:endParaRPr lang="en-US" sz="1100" dirty="0"/>
          </a:p>
        </p:txBody>
      </p:sp>
      <p:sp>
        <p:nvSpPr>
          <p:cNvPr id="12" name="Shape 10"/>
          <p:cNvSpPr/>
          <p:nvPr/>
        </p:nvSpPr>
        <p:spPr>
          <a:xfrm>
            <a:off x="8046720" y="1554480"/>
            <a:ext cx="3566160" cy="1417320"/>
          </a:xfrm>
          <a:prstGeom prst="roundRect">
            <a:avLst>
              <a:gd name="adj" fmla="val 5161"/>
            </a:avLst>
          </a:prstGeom>
          <a:solidFill>
            <a:srgbClr val="FAFAF8"/>
          </a:solidFill>
          <a:ln w="12700">
            <a:solidFill>
              <a:srgbClr val="D6D6D2"/>
            </a:solidFill>
            <a:prstDash val="solid"/>
          </a:ln>
        </p:spPr>
        <p:txBody>
          <a:bodyPr/>
          <a:lstStyle/>
          <a:p>
            <a:endParaRPr lang="en-US"/>
          </a:p>
        </p:txBody>
      </p:sp>
      <p:sp>
        <p:nvSpPr>
          <p:cNvPr id="13" name="Text 11"/>
          <p:cNvSpPr/>
          <p:nvPr/>
        </p:nvSpPr>
        <p:spPr>
          <a:xfrm>
            <a:off x="8275320" y="1691640"/>
            <a:ext cx="3108960" cy="594360"/>
          </a:xfrm>
          <a:prstGeom prst="rect">
            <a:avLst/>
          </a:prstGeom>
          <a:noFill/>
          <a:ln/>
        </p:spPr>
        <p:txBody>
          <a:bodyPr wrap="square" lIns="0" tIns="0" rIns="0" bIns="0" rtlCol="0" anchor="ctr"/>
          <a:lstStyle/>
          <a:p>
            <a:pPr marL="0" indent="0">
              <a:buNone/>
            </a:pPr>
            <a:r>
              <a:rPr lang="en-US" sz="2600" b="1" dirty="0">
                <a:solidFill>
                  <a:srgbClr val="B8863A"/>
                </a:solidFill>
                <a:latin typeface="Cambria" pitchFamily="34" charset="0"/>
                <a:ea typeface="Cambria" pitchFamily="34" charset="-122"/>
                <a:cs typeface="Cambria" pitchFamily="34" charset="-120"/>
              </a:rPr>
              <a:t>17</a:t>
            </a:r>
            <a:endParaRPr lang="en-US" sz="2600" dirty="0"/>
          </a:p>
        </p:txBody>
      </p:sp>
      <p:sp>
        <p:nvSpPr>
          <p:cNvPr id="14" name="Text 12"/>
          <p:cNvSpPr/>
          <p:nvPr/>
        </p:nvSpPr>
        <p:spPr>
          <a:xfrm>
            <a:off x="8275320" y="2286000"/>
            <a:ext cx="3108960" cy="594360"/>
          </a:xfrm>
          <a:prstGeom prst="rect">
            <a:avLst/>
          </a:prstGeom>
          <a:noFill/>
          <a:ln/>
        </p:spPr>
        <p:txBody>
          <a:bodyPr wrap="square" lIns="0" tIns="0" rIns="0" bIns="0" rtlCol="0" anchor="ctr"/>
          <a:lstStyle/>
          <a:p>
            <a:pPr marL="0" indent="0">
              <a:lnSpc>
                <a:spcPts val="1400"/>
              </a:lnSpc>
              <a:buNone/>
            </a:pPr>
            <a:r>
              <a:rPr lang="en-US" sz="1100" dirty="0">
                <a:solidFill>
                  <a:srgbClr val="555555"/>
                </a:solidFill>
                <a:latin typeface="Calibri" pitchFamily="34" charset="0"/>
                <a:ea typeface="Calibri" pitchFamily="34" charset="-122"/>
                <a:cs typeface="Calibri" pitchFamily="34" charset="-120"/>
              </a:rPr>
              <a:t>transnational scam networks dismantled in 2025 — losses stayed high anyway</a:t>
            </a:r>
            <a:endParaRPr lang="en-US" sz="1100" dirty="0"/>
          </a:p>
        </p:txBody>
      </p:sp>
      <p:sp>
        <p:nvSpPr>
          <p:cNvPr id="15" name="Shape 13"/>
          <p:cNvSpPr/>
          <p:nvPr/>
        </p:nvSpPr>
        <p:spPr>
          <a:xfrm>
            <a:off x="457200" y="3246120"/>
            <a:ext cx="11247120" cy="2148840"/>
          </a:xfrm>
          <a:prstGeom prst="roundRect">
            <a:avLst>
              <a:gd name="adj" fmla="val 3404"/>
            </a:avLst>
          </a:prstGeom>
          <a:solidFill>
            <a:srgbClr val="EDEDEA"/>
          </a:solidFill>
          <a:ln/>
        </p:spPr>
        <p:txBody>
          <a:bodyPr/>
          <a:lstStyle/>
          <a:p>
            <a:endParaRPr lang="en-US"/>
          </a:p>
        </p:txBody>
      </p:sp>
      <p:sp>
        <p:nvSpPr>
          <p:cNvPr id="16" name="Text 14"/>
          <p:cNvSpPr/>
          <p:nvPr/>
        </p:nvSpPr>
        <p:spPr>
          <a:xfrm>
            <a:off x="777240" y="3474720"/>
            <a:ext cx="7315200" cy="274320"/>
          </a:xfrm>
          <a:prstGeom prst="rect">
            <a:avLst/>
          </a:prstGeom>
          <a:noFill/>
          <a:ln/>
        </p:spPr>
        <p:txBody>
          <a:bodyPr wrap="square" rtlCol="0" anchor="ctr"/>
          <a:lstStyle/>
          <a:p>
            <a:pPr marL="0" indent="0">
              <a:buNone/>
            </a:pPr>
            <a:r>
              <a:rPr lang="en-US" sz="1000" kern="0" spc="120" dirty="0">
                <a:solidFill>
                  <a:srgbClr val="B8863A"/>
                </a:solidFill>
                <a:latin typeface="Courier New" pitchFamily="34" charset="0"/>
                <a:ea typeface="Courier New" pitchFamily="34" charset="-122"/>
                <a:cs typeface="Courier New" pitchFamily="34" charset="-120"/>
              </a:rPr>
              <a:t>THE GAP THAT SHAPED THE DESIGN</a:t>
            </a:r>
            <a:endParaRPr lang="en-US" sz="1000" dirty="0"/>
          </a:p>
        </p:txBody>
      </p:sp>
      <p:sp>
        <p:nvSpPr>
          <p:cNvPr id="17" name="Text 15"/>
          <p:cNvSpPr/>
          <p:nvPr/>
        </p:nvSpPr>
        <p:spPr>
          <a:xfrm>
            <a:off x="777240" y="3794760"/>
            <a:ext cx="10607040" cy="1097280"/>
          </a:xfrm>
          <a:prstGeom prst="rect">
            <a:avLst/>
          </a:prstGeom>
          <a:noFill/>
          <a:ln/>
        </p:spPr>
        <p:txBody>
          <a:bodyPr wrap="square" rtlCol="0" anchor="ctr"/>
          <a:lstStyle/>
          <a:p>
            <a:pPr marL="0" indent="0">
              <a:lnSpc>
                <a:spcPts val="1700"/>
              </a:lnSpc>
              <a:buNone/>
            </a:pPr>
            <a:r>
              <a:rPr lang="en-US" sz="1250" dirty="0">
                <a:solidFill>
                  <a:srgbClr val="111111"/>
                </a:solidFill>
                <a:latin typeface="Calibri" pitchFamily="34" charset="0"/>
                <a:ea typeface="Calibri" pitchFamily="34" charset="-122"/>
                <a:cs typeface="Calibri" pitchFamily="34" charset="-120"/>
              </a:rPr>
              <a:t>Our stakeholder map put scam syndicates, government agencies, banks/telcos, family, and PA/grassroots networks all in the picture — but one voice was largely absent from how these tools get designed in the first place: seniors' own voice. Blacklist tools like ScamShield can't keep pace with messages an AI rewrites per-target in seconds (Roy &amp; Nilizadeh, 2024) — which is exactly why detection alone was never going to be the whole answer.</a:t>
            </a:r>
            <a:endParaRPr lang="en-US" sz="1250" dirty="0"/>
          </a:p>
        </p:txBody>
      </p:sp>
      <p:sp>
        <p:nvSpPr>
          <p:cNvPr id="18" name="Shape 16"/>
          <p:cNvSpPr/>
          <p:nvPr/>
        </p:nvSpPr>
        <p:spPr>
          <a:xfrm>
            <a:off x="8732520" y="5074920"/>
            <a:ext cx="297180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19" name="Text 17"/>
          <p:cNvSpPr/>
          <p:nvPr/>
        </p:nvSpPr>
        <p:spPr>
          <a:xfrm>
            <a:off x="8732520" y="5074920"/>
            <a:ext cx="297180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DATA COLONIALISM</a:t>
            </a:r>
            <a:endParaRPr lang="en-US" sz="850" dirty="0"/>
          </a:p>
        </p:txBody>
      </p:sp>
      <p:sp>
        <p:nvSpPr>
          <p:cNvPr id="20" name="Text 18"/>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1" name="Text 19"/>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DESIGN PROCESS</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What we tested, dropped, and carried forward</a:t>
            </a:r>
            <a:endParaRPr lang="en-US" sz="2700" dirty="0"/>
          </a:p>
        </p:txBody>
      </p:sp>
      <p:sp>
        <p:nvSpPr>
          <p:cNvPr id="6" name="Shape 4"/>
          <p:cNvSpPr/>
          <p:nvPr/>
        </p:nvSpPr>
        <p:spPr>
          <a:xfrm>
            <a:off x="457200" y="1600200"/>
            <a:ext cx="3566160" cy="3566160"/>
          </a:xfrm>
          <a:prstGeom prst="roundRect">
            <a:avLst>
              <a:gd name="adj" fmla="val 2051"/>
            </a:avLst>
          </a:prstGeom>
          <a:solidFill>
            <a:srgbClr val="FAFAF8"/>
          </a:solidFill>
          <a:ln w="12700">
            <a:solidFill>
              <a:srgbClr val="D6D6D2"/>
            </a:solidFill>
            <a:prstDash val="solid"/>
          </a:ln>
        </p:spPr>
        <p:txBody>
          <a:bodyPr/>
          <a:lstStyle/>
          <a:p>
            <a:endParaRPr lang="en-US"/>
          </a:p>
        </p:txBody>
      </p:sp>
      <p:sp>
        <p:nvSpPr>
          <p:cNvPr id="7" name="Text 5"/>
          <p:cNvSpPr/>
          <p:nvPr/>
        </p:nvSpPr>
        <p:spPr>
          <a:xfrm>
            <a:off x="685800" y="1783080"/>
            <a:ext cx="731520" cy="548640"/>
          </a:xfrm>
          <a:prstGeom prst="rect">
            <a:avLst/>
          </a:prstGeom>
          <a:noFill/>
          <a:ln/>
        </p:spPr>
        <p:txBody>
          <a:bodyPr wrap="square" lIns="0" tIns="0" rIns="0" bIns="0" rtlCol="0" anchor="ctr"/>
          <a:lstStyle/>
          <a:p>
            <a:pPr marL="0" indent="0">
              <a:buNone/>
            </a:pPr>
            <a:r>
              <a:rPr lang="en-US" sz="2400" b="1" dirty="0">
                <a:solidFill>
                  <a:srgbClr val="B8863A"/>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685800" y="2331720"/>
            <a:ext cx="3108960" cy="685800"/>
          </a:xfrm>
          <a:prstGeom prst="rect">
            <a:avLst/>
          </a:prstGeom>
          <a:noFill/>
          <a:ln/>
        </p:spPr>
        <p:txBody>
          <a:bodyPr wrap="square" lIns="0" tIns="0" rIns="0" bIns="0" rtlCol="0" anchor="ctr"/>
          <a:lstStyle/>
          <a:p>
            <a:pPr marL="0" indent="0">
              <a:lnSpc>
                <a:spcPts val="1800"/>
              </a:lnSpc>
              <a:buNone/>
            </a:pPr>
            <a:r>
              <a:rPr lang="en-US" sz="1500" b="1" dirty="0">
                <a:solidFill>
                  <a:srgbClr val="111111"/>
                </a:solidFill>
                <a:latin typeface="Cambria" pitchFamily="34" charset="0"/>
                <a:ea typeface="Cambria" pitchFamily="34" charset="-122"/>
                <a:cs typeface="Cambria" pitchFamily="34" charset="-120"/>
              </a:rPr>
              <a:t>We tested a hard block</a:t>
            </a:r>
            <a:endParaRPr lang="en-US" sz="1500" dirty="0"/>
          </a:p>
        </p:txBody>
      </p:sp>
      <p:sp>
        <p:nvSpPr>
          <p:cNvPr id="9" name="Text 7"/>
          <p:cNvSpPr/>
          <p:nvPr/>
        </p:nvSpPr>
        <p:spPr>
          <a:xfrm>
            <a:off x="685800" y="3063240"/>
            <a:ext cx="3108960" cy="1965960"/>
          </a:xfrm>
          <a:prstGeom prst="rect">
            <a:avLst/>
          </a:prstGeom>
          <a:noFill/>
          <a:ln/>
        </p:spPr>
        <p:txBody>
          <a:bodyPr wrap="square" lIns="0" tIns="0" rIns="0" bIns="0" rtlCol="0" anchor="ctr"/>
          <a:lstStyle/>
          <a:p>
            <a:pPr marL="0" indent="0">
              <a:lnSpc>
                <a:spcPts val="1600"/>
              </a:lnSpc>
              <a:buNone/>
            </a:pPr>
            <a:r>
              <a:rPr lang="en-US" sz="1150" dirty="0">
                <a:solidFill>
                  <a:srgbClr val="555555"/>
                </a:solidFill>
                <a:latin typeface="Calibri" pitchFamily="34" charset="0"/>
                <a:ea typeface="Calibri" pitchFamily="34" charset="-122"/>
                <a:cs typeface="Calibri" pitchFamily="34" charset="-120"/>
              </a:rPr>
              <a:t>A “reject” screen was tried first and dropped — seniors disengage the moment a tool feels like it's taking judgement away, not supporting it (Zhai et al., 2025).</a:t>
            </a:r>
            <a:endParaRPr lang="en-US" sz="1150" dirty="0"/>
          </a:p>
        </p:txBody>
      </p:sp>
      <p:sp>
        <p:nvSpPr>
          <p:cNvPr id="10" name="Shape 8"/>
          <p:cNvSpPr/>
          <p:nvPr/>
        </p:nvSpPr>
        <p:spPr>
          <a:xfrm>
            <a:off x="4251960" y="1600200"/>
            <a:ext cx="3566160" cy="3566160"/>
          </a:xfrm>
          <a:prstGeom prst="roundRect">
            <a:avLst>
              <a:gd name="adj" fmla="val 2051"/>
            </a:avLst>
          </a:prstGeom>
          <a:solidFill>
            <a:srgbClr val="FAFAF8"/>
          </a:solidFill>
          <a:ln w="12700">
            <a:solidFill>
              <a:srgbClr val="D6D6D2"/>
            </a:solidFill>
            <a:prstDash val="solid"/>
          </a:ln>
        </p:spPr>
        <p:txBody>
          <a:bodyPr/>
          <a:lstStyle/>
          <a:p>
            <a:endParaRPr lang="en-US"/>
          </a:p>
        </p:txBody>
      </p:sp>
      <p:sp>
        <p:nvSpPr>
          <p:cNvPr id="11" name="Text 9"/>
          <p:cNvSpPr/>
          <p:nvPr/>
        </p:nvSpPr>
        <p:spPr>
          <a:xfrm>
            <a:off x="4480560" y="1783080"/>
            <a:ext cx="731520" cy="548640"/>
          </a:xfrm>
          <a:prstGeom prst="rect">
            <a:avLst/>
          </a:prstGeom>
          <a:noFill/>
          <a:ln/>
        </p:spPr>
        <p:txBody>
          <a:bodyPr wrap="square" lIns="0" tIns="0" rIns="0" bIns="0" rtlCol="0" anchor="ctr"/>
          <a:lstStyle/>
          <a:p>
            <a:pPr marL="0" indent="0">
              <a:buNone/>
            </a:pPr>
            <a:r>
              <a:rPr lang="en-US" sz="2400" b="1" dirty="0">
                <a:solidFill>
                  <a:srgbClr val="B8863A"/>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4480560" y="2331720"/>
            <a:ext cx="3108960" cy="685800"/>
          </a:xfrm>
          <a:prstGeom prst="rect">
            <a:avLst/>
          </a:prstGeom>
          <a:noFill/>
          <a:ln/>
        </p:spPr>
        <p:txBody>
          <a:bodyPr wrap="square" lIns="0" tIns="0" rIns="0" bIns="0" rtlCol="0" anchor="ctr"/>
          <a:lstStyle/>
          <a:p>
            <a:pPr marL="0" indent="0">
              <a:lnSpc>
                <a:spcPts val="1800"/>
              </a:lnSpc>
              <a:buNone/>
            </a:pPr>
            <a:r>
              <a:rPr lang="en-US" sz="1500" b="1" dirty="0">
                <a:solidFill>
                  <a:srgbClr val="111111"/>
                </a:solidFill>
                <a:latin typeface="Cambria" pitchFamily="34" charset="0"/>
                <a:ea typeface="Cambria" pitchFamily="34" charset="-122"/>
                <a:cs typeface="Cambria" pitchFamily="34" charset="-120"/>
              </a:rPr>
              <a:t>We borrowed physical trust infrastructure</a:t>
            </a:r>
            <a:endParaRPr lang="en-US" sz="1500" dirty="0"/>
          </a:p>
        </p:txBody>
      </p:sp>
      <p:sp>
        <p:nvSpPr>
          <p:cNvPr id="13" name="Text 11"/>
          <p:cNvSpPr/>
          <p:nvPr/>
        </p:nvSpPr>
        <p:spPr>
          <a:xfrm>
            <a:off x="4480560" y="3063240"/>
            <a:ext cx="3108960" cy="1965960"/>
          </a:xfrm>
          <a:prstGeom prst="rect">
            <a:avLst/>
          </a:prstGeom>
          <a:noFill/>
          <a:ln/>
        </p:spPr>
        <p:txBody>
          <a:bodyPr wrap="square" lIns="0" tIns="0" rIns="0" bIns="0" rtlCol="0" anchor="ctr"/>
          <a:lstStyle/>
          <a:p>
            <a:pPr marL="0" indent="0">
              <a:lnSpc>
                <a:spcPts val="1600"/>
              </a:lnSpc>
              <a:buNone/>
            </a:pPr>
            <a:r>
              <a:rPr lang="en-US" sz="1150" dirty="0">
                <a:solidFill>
                  <a:srgbClr val="555555"/>
                </a:solidFill>
                <a:latin typeface="Calibri" pitchFamily="34" charset="0"/>
                <a:ea typeface="Calibri" pitchFamily="34" charset="-122"/>
                <a:cs typeface="Calibri" pitchFamily="34" charset="-120"/>
              </a:rPr>
              <a:t>Pioneer Generation priority queues and PA grassroots networks became the model for a digital “priority lane” — infrastructure, not a personal gadget.</a:t>
            </a:r>
            <a:endParaRPr lang="en-US" sz="1150" dirty="0"/>
          </a:p>
        </p:txBody>
      </p:sp>
      <p:sp>
        <p:nvSpPr>
          <p:cNvPr id="14" name="Shape 12"/>
          <p:cNvSpPr/>
          <p:nvPr/>
        </p:nvSpPr>
        <p:spPr>
          <a:xfrm>
            <a:off x="8046720" y="1600200"/>
            <a:ext cx="3566160" cy="3566160"/>
          </a:xfrm>
          <a:prstGeom prst="roundRect">
            <a:avLst>
              <a:gd name="adj" fmla="val 2051"/>
            </a:avLst>
          </a:prstGeom>
          <a:solidFill>
            <a:srgbClr val="FAFAF8"/>
          </a:solidFill>
          <a:ln w="12700">
            <a:solidFill>
              <a:srgbClr val="D6D6D2"/>
            </a:solidFill>
            <a:prstDash val="solid"/>
          </a:ln>
        </p:spPr>
        <p:txBody>
          <a:bodyPr/>
          <a:lstStyle/>
          <a:p>
            <a:endParaRPr lang="en-US"/>
          </a:p>
        </p:txBody>
      </p:sp>
      <p:sp>
        <p:nvSpPr>
          <p:cNvPr id="15" name="Text 13"/>
          <p:cNvSpPr/>
          <p:nvPr/>
        </p:nvSpPr>
        <p:spPr>
          <a:xfrm>
            <a:off x="8275320" y="1783080"/>
            <a:ext cx="731520" cy="548640"/>
          </a:xfrm>
          <a:prstGeom prst="rect">
            <a:avLst/>
          </a:prstGeom>
          <a:noFill/>
          <a:ln/>
        </p:spPr>
        <p:txBody>
          <a:bodyPr wrap="square" lIns="0" tIns="0" rIns="0" bIns="0" rtlCol="0" anchor="ctr"/>
          <a:lstStyle/>
          <a:p>
            <a:pPr marL="0" indent="0">
              <a:buNone/>
            </a:pPr>
            <a:r>
              <a:rPr lang="en-US" sz="2400" b="1" dirty="0">
                <a:solidFill>
                  <a:srgbClr val="B8863A"/>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8275320" y="2331720"/>
            <a:ext cx="3108960" cy="685800"/>
          </a:xfrm>
          <a:prstGeom prst="rect">
            <a:avLst/>
          </a:prstGeom>
          <a:noFill/>
          <a:ln/>
        </p:spPr>
        <p:txBody>
          <a:bodyPr wrap="square" lIns="0" tIns="0" rIns="0" bIns="0" rtlCol="0" anchor="ctr"/>
          <a:lstStyle/>
          <a:p>
            <a:pPr marL="0" indent="0">
              <a:lnSpc>
                <a:spcPts val="1800"/>
              </a:lnSpc>
              <a:buNone/>
            </a:pPr>
            <a:r>
              <a:rPr lang="en-US" sz="1500" b="1" dirty="0">
                <a:solidFill>
                  <a:srgbClr val="111111"/>
                </a:solidFill>
                <a:latin typeface="Cambria" pitchFamily="34" charset="0"/>
                <a:ea typeface="Cambria" pitchFamily="34" charset="-122"/>
                <a:cs typeface="Cambria" pitchFamily="34" charset="-120"/>
              </a:rPr>
              <a:t>We still haven't closed the loop</a:t>
            </a:r>
            <a:endParaRPr lang="en-US" sz="1500" dirty="0"/>
          </a:p>
        </p:txBody>
      </p:sp>
      <p:sp>
        <p:nvSpPr>
          <p:cNvPr id="17" name="Text 15"/>
          <p:cNvSpPr/>
          <p:nvPr/>
        </p:nvSpPr>
        <p:spPr>
          <a:xfrm>
            <a:off x="8275320" y="3063240"/>
            <a:ext cx="3108960" cy="1965960"/>
          </a:xfrm>
          <a:prstGeom prst="rect">
            <a:avLst/>
          </a:prstGeom>
          <a:noFill/>
          <a:ln/>
        </p:spPr>
        <p:txBody>
          <a:bodyPr wrap="square" lIns="0" tIns="0" rIns="0" bIns="0" rtlCol="0" anchor="ctr"/>
          <a:lstStyle/>
          <a:p>
            <a:pPr marL="0" indent="0">
              <a:lnSpc>
                <a:spcPts val="1600"/>
              </a:lnSpc>
              <a:buNone/>
            </a:pPr>
            <a:r>
              <a:rPr lang="en-US" sz="1150" dirty="0">
                <a:solidFill>
                  <a:srgbClr val="555555"/>
                </a:solidFill>
                <a:latin typeface="Calibri" pitchFamily="34" charset="0"/>
                <a:ea typeface="Calibri" pitchFamily="34" charset="-122"/>
                <a:cs typeface="Calibri" pitchFamily="34" charset="-120"/>
              </a:rPr>
              <a:t>No formal session with seniors at an Active Ageing Centre yet — the biggest open gap in an otherwise participatory-minded process, addressed honestly in limitations.</a:t>
            </a:r>
            <a:endParaRPr lang="en-US" sz="1150" dirty="0"/>
          </a:p>
        </p:txBody>
      </p:sp>
      <p:sp>
        <p:nvSpPr>
          <p:cNvPr id="18" name="Shape 16"/>
          <p:cNvSpPr/>
          <p:nvPr/>
        </p:nvSpPr>
        <p:spPr>
          <a:xfrm>
            <a:off x="457200" y="5349240"/>
            <a:ext cx="288036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19" name="Text 17"/>
          <p:cNvSpPr/>
          <p:nvPr/>
        </p:nvSpPr>
        <p:spPr>
          <a:xfrm>
            <a:off x="457200" y="5349240"/>
            <a:ext cx="288036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PARTICIPATORY DESIGN</a:t>
            </a:r>
            <a:endParaRPr lang="en-US" sz="850" dirty="0"/>
          </a:p>
        </p:txBody>
      </p:sp>
      <p:sp>
        <p:nvSpPr>
          <p:cNvPr id="20" name="Shape 18"/>
          <p:cNvSpPr/>
          <p:nvPr/>
        </p:nvSpPr>
        <p:spPr>
          <a:xfrm>
            <a:off x="3520440" y="5349240"/>
            <a:ext cx="233172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21" name="Text 19"/>
          <p:cNvSpPr/>
          <p:nvPr/>
        </p:nvSpPr>
        <p:spPr>
          <a:xfrm>
            <a:off x="3520440" y="5349240"/>
            <a:ext cx="233172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CREATIVITY</a:t>
            </a:r>
            <a:endParaRPr lang="en-US" sz="850" dirty="0"/>
          </a:p>
        </p:txBody>
      </p:sp>
      <p:sp>
        <p:nvSpPr>
          <p:cNvPr id="22" name="Shape 20"/>
          <p:cNvSpPr/>
          <p:nvPr/>
        </p:nvSpPr>
        <p:spPr>
          <a:xfrm>
            <a:off x="6035040" y="5349240"/>
            <a:ext cx="306324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23" name="Text 21"/>
          <p:cNvSpPr/>
          <p:nvPr/>
        </p:nvSpPr>
        <p:spPr>
          <a:xfrm>
            <a:off x="6035040" y="5349240"/>
            <a:ext cx="306324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POSTHUMAN DESIGN</a:t>
            </a:r>
            <a:endParaRPr lang="en-US" sz="850" dirty="0"/>
          </a:p>
        </p:txBody>
      </p:sp>
      <p:sp>
        <p:nvSpPr>
          <p:cNvPr id="24" name="Text 22"/>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5" name="Text 23"/>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BUILDING AN ENVIRONMENT OF TRUST</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Trust isn't a tone. It's the truth, said plainly.</a:t>
            </a:r>
            <a:endParaRPr lang="en-US" sz="2700" dirty="0"/>
          </a:p>
        </p:txBody>
      </p:sp>
      <p:sp>
        <p:nvSpPr>
          <p:cNvPr id="6" name="Text 4"/>
          <p:cNvSpPr/>
          <p:nvPr/>
        </p:nvSpPr>
        <p:spPr>
          <a:xfrm>
            <a:off x="457200" y="1554480"/>
            <a:ext cx="365760" cy="822960"/>
          </a:xfrm>
          <a:prstGeom prst="rect">
            <a:avLst/>
          </a:prstGeom>
          <a:noFill/>
          <a:ln/>
        </p:spPr>
        <p:txBody>
          <a:bodyPr wrap="square" rtlCol="0" anchor="t"/>
          <a:lstStyle/>
          <a:p>
            <a:pPr marL="0" indent="0">
              <a:buNone/>
            </a:pPr>
            <a:r>
              <a:rPr lang="en-US" sz="1600" b="1" dirty="0">
                <a:solidFill>
                  <a:srgbClr val="4F7A55"/>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1554480"/>
            <a:ext cx="3246120" cy="365760"/>
          </a:xfrm>
          <a:prstGeom prst="rect">
            <a:avLst/>
          </a:prstGeom>
          <a:noFill/>
          <a:ln/>
        </p:spPr>
        <p:txBody>
          <a:bodyPr wrap="square" lIns="0" tIns="0" rIns="0" bIns="0" rtlCol="0" anchor="ctr"/>
          <a:lstStyle/>
          <a:p>
            <a:pPr marL="0" indent="0">
              <a:buNone/>
            </a:pPr>
            <a:r>
              <a:rPr lang="en-US" sz="1350" b="1" dirty="0">
                <a:solidFill>
                  <a:srgbClr val="111111"/>
                </a:solidFill>
                <a:latin typeface="Cambria" pitchFamily="34" charset="0"/>
                <a:ea typeface="Cambria" pitchFamily="34" charset="-122"/>
                <a:cs typeface="Cambria" pitchFamily="34" charset="-120"/>
              </a:rPr>
              <a:t>State the promise upfront</a:t>
            </a:r>
            <a:endParaRPr lang="en-US" sz="1350" dirty="0"/>
          </a:p>
        </p:txBody>
      </p:sp>
      <p:sp>
        <p:nvSpPr>
          <p:cNvPr id="8" name="Text 6"/>
          <p:cNvSpPr/>
          <p:nvPr/>
        </p:nvSpPr>
        <p:spPr>
          <a:xfrm>
            <a:off x="822960" y="1901952"/>
            <a:ext cx="3246120" cy="548640"/>
          </a:xfrm>
          <a:prstGeom prst="rect">
            <a:avLst/>
          </a:prstGeom>
          <a:noFill/>
          <a:ln/>
        </p:spPr>
        <p:txBody>
          <a:bodyPr wrap="square" lIns="0" tIns="0" rIns="0" bIns="0" rtlCol="0" anchor="ctr"/>
          <a:lstStyle/>
          <a:p>
            <a:pPr marL="0" indent="0">
              <a:lnSpc>
                <a:spcPts val="1300"/>
              </a:lnSpc>
              <a:buNone/>
            </a:pPr>
            <a:r>
              <a:rPr lang="en-US" sz="1050" dirty="0">
                <a:solidFill>
                  <a:srgbClr val="555555"/>
                </a:solidFill>
                <a:latin typeface="Calibri" pitchFamily="34" charset="0"/>
                <a:ea typeface="Calibri" pitchFamily="34" charset="-122"/>
                <a:cs typeface="Calibri" pitchFamily="34" charset="-120"/>
              </a:rPr>
              <a:t>Said before anything else, not buried in settings.</a:t>
            </a:r>
            <a:endParaRPr lang="en-US" sz="1050" dirty="0"/>
          </a:p>
        </p:txBody>
      </p:sp>
      <p:sp>
        <p:nvSpPr>
          <p:cNvPr id="9" name="Text 7"/>
          <p:cNvSpPr/>
          <p:nvPr/>
        </p:nvSpPr>
        <p:spPr>
          <a:xfrm>
            <a:off x="4160520" y="1554480"/>
            <a:ext cx="365760" cy="822960"/>
          </a:xfrm>
          <a:prstGeom prst="rect">
            <a:avLst/>
          </a:prstGeom>
          <a:noFill/>
          <a:ln/>
        </p:spPr>
        <p:txBody>
          <a:bodyPr wrap="square" rtlCol="0" anchor="t"/>
          <a:lstStyle/>
          <a:p>
            <a:pPr marL="0" indent="0">
              <a:buNone/>
            </a:pPr>
            <a:r>
              <a:rPr lang="en-US" sz="1600" b="1" dirty="0">
                <a:solidFill>
                  <a:srgbClr val="4F7A55"/>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4526280" y="1554480"/>
            <a:ext cx="3246120" cy="365760"/>
          </a:xfrm>
          <a:prstGeom prst="rect">
            <a:avLst/>
          </a:prstGeom>
          <a:noFill/>
          <a:ln/>
        </p:spPr>
        <p:txBody>
          <a:bodyPr wrap="square" lIns="0" tIns="0" rIns="0" bIns="0" rtlCol="0" anchor="ctr"/>
          <a:lstStyle/>
          <a:p>
            <a:pPr marL="0" indent="0">
              <a:buNone/>
            </a:pPr>
            <a:r>
              <a:rPr lang="en-US" sz="1350" b="1" dirty="0">
                <a:solidFill>
                  <a:srgbClr val="111111"/>
                </a:solidFill>
                <a:latin typeface="Cambria" pitchFamily="34" charset="0"/>
                <a:ea typeface="Cambria" pitchFamily="34" charset="-122"/>
                <a:cs typeface="Cambria" pitchFamily="34" charset="-120"/>
              </a:rPr>
              <a:t>Zero jargon</a:t>
            </a:r>
            <a:endParaRPr lang="en-US" sz="1350" dirty="0"/>
          </a:p>
        </p:txBody>
      </p:sp>
      <p:sp>
        <p:nvSpPr>
          <p:cNvPr id="11" name="Text 9"/>
          <p:cNvSpPr/>
          <p:nvPr/>
        </p:nvSpPr>
        <p:spPr>
          <a:xfrm>
            <a:off x="4526280" y="1901952"/>
            <a:ext cx="3246120" cy="548640"/>
          </a:xfrm>
          <a:prstGeom prst="rect">
            <a:avLst/>
          </a:prstGeom>
          <a:noFill/>
          <a:ln/>
        </p:spPr>
        <p:txBody>
          <a:bodyPr wrap="square" lIns="0" tIns="0" rIns="0" bIns="0" rtlCol="0" anchor="ctr"/>
          <a:lstStyle/>
          <a:p>
            <a:pPr marL="0" indent="0">
              <a:lnSpc>
                <a:spcPts val="1300"/>
              </a:lnSpc>
              <a:buNone/>
            </a:pPr>
            <a:r>
              <a:rPr lang="en-US" sz="1050" dirty="0">
                <a:solidFill>
                  <a:srgbClr val="555555"/>
                </a:solidFill>
                <a:latin typeface="Calibri" pitchFamily="34" charset="0"/>
                <a:ea typeface="Calibri" pitchFamily="34" charset="-122"/>
                <a:cs typeface="Calibri" pitchFamily="34" charset="-120"/>
              </a:rPr>
              <a:t>“On-device AI” becomes “checked right here.” No security-speak.</a:t>
            </a:r>
            <a:endParaRPr lang="en-US" sz="1050" dirty="0"/>
          </a:p>
        </p:txBody>
      </p:sp>
      <p:sp>
        <p:nvSpPr>
          <p:cNvPr id="12" name="Text 10"/>
          <p:cNvSpPr/>
          <p:nvPr/>
        </p:nvSpPr>
        <p:spPr>
          <a:xfrm>
            <a:off x="457200" y="2514600"/>
            <a:ext cx="365760" cy="822960"/>
          </a:xfrm>
          <a:prstGeom prst="rect">
            <a:avLst/>
          </a:prstGeom>
          <a:noFill/>
          <a:ln/>
        </p:spPr>
        <p:txBody>
          <a:bodyPr wrap="square" rtlCol="0" anchor="t"/>
          <a:lstStyle/>
          <a:p>
            <a:pPr marL="0" indent="0">
              <a:buNone/>
            </a:pPr>
            <a:r>
              <a:rPr lang="en-US" sz="1600" b="1" dirty="0">
                <a:solidFill>
                  <a:srgbClr val="4F7A55"/>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822960" y="2514600"/>
            <a:ext cx="3246120" cy="365760"/>
          </a:xfrm>
          <a:prstGeom prst="rect">
            <a:avLst/>
          </a:prstGeom>
          <a:noFill/>
          <a:ln/>
        </p:spPr>
        <p:txBody>
          <a:bodyPr wrap="square" lIns="0" tIns="0" rIns="0" bIns="0" rtlCol="0" anchor="ctr"/>
          <a:lstStyle/>
          <a:p>
            <a:pPr marL="0" indent="0">
              <a:buNone/>
            </a:pPr>
            <a:r>
              <a:rPr lang="en-US" sz="1350" b="1" dirty="0">
                <a:solidFill>
                  <a:srgbClr val="111111"/>
                </a:solidFill>
                <a:latin typeface="Cambria" pitchFamily="34" charset="0"/>
                <a:ea typeface="Cambria" pitchFamily="34" charset="-122"/>
                <a:cs typeface="Cambria" pitchFamily="34" charset="-120"/>
              </a:rPr>
              <a:t>No blame, ever</a:t>
            </a:r>
            <a:endParaRPr lang="en-US" sz="1350" dirty="0"/>
          </a:p>
        </p:txBody>
      </p:sp>
      <p:sp>
        <p:nvSpPr>
          <p:cNvPr id="14" name="Text 12"/>
          <p:cNvSpPr/>
          <p:nvPr/>
        </p:nvSpPr>
        <p:spPr>
          <a:xfrm>
            <a:off x="822960" y="2862072"/>
            <a:ext cx="3246120" cy="548640"/>
          </a:xfrm>
          <a:prstGeom prst="rect">
            <a:avLst/>
          </a:prstGeom>
          <a:noFill/>
          <a:ln/>
        </p:spPr>
        <p:txBody>
          <a:bodyPr wrap="square" lIns="0" tIns="0" rIns="0" bIns="0" rtlCol="0" anchor="ctr"/>
          <a:lstStyle/>
          <a:p>
            <a:pPr marL="0" indent="0">
              <a:lnSpc>
                <a:spcPts val="1300"/>
              </a:lnSpc>
              <a:buNone/>
            </a:pPr>
            <a:r>
              <a:rPr lang="en-US" sz="1050" dirty="0">
                <a:solidFill>
                  <a:srgbClr val="555555"/>
                </a:solidFill>
                <a:latin typeface="Calibri" pitchFamily="34" charset="0"/>
                <a:ea typeface="Calibri" pitchFamily="34" charset="-122"/>
                <a:cs typeface="Calibri" pitchFamily="34" charset="-120"/>
              </a:rPr>
              <a:t>“You did the right thing by checking” — shame stops people asking next time.</a:t>
            </a:r>
            <a:endParaRPr lang="en-US" sz="1050" dirty="0"/>
          </a:p>
        </p:txBody>
      </p:sp>
      <p:sp>
        <p:nvSpPr>
          <p:cNvPr id="15" name="Text 13"/>
          <p:cNvSpPr/>
          <p:nvPr/>
        </p:nvSpPr>
        <p:spPr>
          <a:xfrm>
            <a:off x="4160520" y="2514600"/>
            <a:ext cx="365760" cy="822960"/>
          </a:xfrm>
          <a:prstGeom prst="rect">
            <a:avLst/>
          </a:prstGeom>
          <a:noFill/>
          <a:ln/>
        </p:spPr>
        <p:txBody>
          <a:bodyPr wrap="square" rtlCol="0" anchor="t"/>
          <a:lstStyle/>
          <a:p>
            <a:pPr marL="0" indent="0">
              <a:buNone/>
            </a:pPr>
            <a:r>
              <a:rPr lang="en-US" sz="1600" b="1" dirty="0">
                <a:solidFill>
                  <a:srgbClr val="4F7A55"/>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4526280" y="2514600"/>
            <a:ext cx="3246120" cy="365760"/>
          </a:xfrm>
          <a:prstGeom prst="rect">
            <a:avLst/>
          </a:prstGeom>
          <a:noFill/>
          <a:ln/>
        </p:spPr>
        <p:txBody>
          <a:bodyPr wrap="square" lIns="0" tIns="0" rIns="0" bIns="0" rtlCol="0" anchor="ctr"/>
          <a:lstStyle/>
          <a:p>
            <a:pPr marL="0" indent="0">
              <a:buNone/>
            </a:pPr>
            <a:r>
              <a:rPr lang="en-US" sz="1350" b="1" dirty="0">
                <a:solidFill>
                  <a:srgbClr val="111111"/>
                </a:solidFill>
                <a:latin typeface="Cambria" pitchFamily="34" charset="0"/>
                <a:ea typeface="Cambria" pitchFamily="34" charset="-122"/>
                <a:cs typeface="Cambria" pitchFamily="34" charset="-120"/>
              </a:rPr>
              <a:t>A human exit, always</a:t>
            </a:r>
            <a:endParaRPr lang="en-US" sz="1350" dirty="0"/>
          </a:p>
        </p:txBody>
      </p:sp>
      <p:sp>
        <p:nvSpPr>
          <p:cNvPr id="17" name="Text 15"/>
          <p:cNvSpPr/>
          <p:nvPr/>
        </p:nvSpPr>
        <p:spPr>
          <a:xfrm>
            <a:off x="4526280" y="2862072"/>
            <a:ext cx="3246120" cy="548640"/>
          </a:xfrm>
          <a:prstGeom prst="rect">
            <a:avLst/>
          </a:prstGeom>
          <a:noFill/>
          <a:ln/>
        </p:spPr>
        <p:txBody>
          <a:bodyPr wrap="square" lIns="0" tIns="0" rIns="0" bIns="0" rtlCol="0" anchor="ctr"/>
          <a:lstStyle/>
          <a:p>
            <a:pPr marL="0" indent="0">
              <a:lnSpc>
                <a:spcPts val="1300"/>
              </a:lnSpc>
              <a:buNone/>
            </a:pPr>
            <a:r>
              <a:rPr lang="en-US" sz="1050" dirty="0">
                <a:solidFill>
                  <a:srgbClr val="555555"/>
                </a:solidFill>
                <a:latin typeface="Calibri" pitchFamily="34" charset="0"/>
                <a:ea typeface="Calibri" pitchFamily="34" charset="-122"/>
                <a:cs typeface="Calibri" pitchFamily="34" charset="-120"/>
              </a:rPr>
              <a:t>“I'd rather speak to a person” on every single screen.</a:t>
            </a:r>
            <a:endParaRPr lang="en-US" sz="1050" dirty="0"/>
          </a:p>
        </p:txBody>
      </p:sp>
      <p:sp>
        <p:nvSpPr>
          <p:cNvPr id="18" name="Shape 16"/>
          <p:cNvSpPr/>
          <p:nvPr/>
        </p:nvSpPr>
        <p:spPr>
          <a:xfrm>
            <a:off x="457200" y="3657600"/>
            <a:ext cx="7406640" cy="2286000"/>
          </a:xfrm>
          <a:prstGeom prst="roundRect">
            <a:avLst>
              <a:gd name="adj" fmla="val 3200"/>
            </a:avLst>
          </a:prstGeom>
          <a:solidFill>
            <a:srgbClr val="111111"/>
          </a:solidFill>
          <a:ln/>
        </p:spPr>
        <p:txBody>
          <a:bodyPr/>
          <a:lstStyle/>
          <a:p>
            <a:endParaRPr lang="en-US"/>
          </a:p>
        </p:txBody>
      </p:sp>
      <p:sp>
        <p:nvSpPr>
          <p:cNvPr id="19" name="Text 17"/>
          <p:cNvSpPr/>
          <p:nvPr/>
        </p:nvSpPr>
        <p:spPr>
          <a:xfrm>
            <a:off x="777240" y="3840480"/>
            <a:ext cx="6766560" cy="274320"/>
          </a:xfrm>
          <a:prstGeom prst="rect">
            <a:avLst/>
          </a:prstGeom>
          <a:noFill/>
          <a:ln/>
        </p:spPr>
        <p:txBody>
          <a:bodyPr wrap="square" rtlCol="0" anchor="ctr"/>
          <a:lstStyle/>
          <a:p>
            <a:pPr marL="0" indent="0">
              <a:buNone/>
            </a:pPr>
            <a:r>
              <a:rPr lang="en-US" sz="1000" kern="0" spc="120" dirty="0">
                <a:solidFill>
                  <a:srgbClr val="B8863A"/>
                </a:solidFill>
                <a:latin typeface="Courier New" pitchFamily="34" charset="0"/>
                <a:ea typeface="Courier New" pitchFamily="34" charset="-122"/>
                <a:cs typeface="Courier New" pitchFamily="34" charset="-120"/>
              </a:rPr>
              <a:t>THE SIXTH PRINCIPLE, ADDED THIS PHASE</a:t>
            </a:r>
            <a:endParaRPr lang="en-US" sz="1000" dirty="0"/>
          </a:p>
        </p:txBody>
      </p:sp>
      <p:sp>
        <p:nvSpPr>
          <p:cNvPr id="20" name="Text 18"/>
          <p:cNvSpPr/>
          <p:nvPr/>
        </p:nvSpPr>
        <p:spPr>
          <a:xfrm>
            <a:off x="777240" y="4133088"/>
            <a:ext cx="6766560" cy="41148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Honesty about the data itself</a:t>
            </a:r>
            <a:endParaRPr lang="en-US" sz="1700" dirty="0"/>
          </a:p>
        </p:txBody>
      </p:sp>
      <p:sp>
        <p:nvSpPr>
          <p:cNvPr id="21" name="Text 19"/>
          <p:cNvSpPr/>
          <p:nvPr/>
        </p:nvSpPr>
        <p:spPr>
          <a:xfrm>
            <a:off x="777240" y="4572000"/>
            <a:ext cx="6766560" cy="1234440"/>
          </a:xfrm>
          <a:prstGeom prst="rect">
            <a:avLst/>
          </a:prstGeom>
          <a:noFill/>
          <a:ln/>
        </p:spPr>
        <p:txBody>
          <a:bodyPr wrap="square" rtlCol="0" anchor="ctr"/>
          <a:lstStyle/>
          <a:p>
            <a:pPr marL="0" indent="0">
              <a:lnSpc>
                <a:spcPts val="1700"/>
              </a:lnSpc>
              <a:buNone/>
            </a:pPr>
            <a:r>
              <a:rPr lang="en-US" sz="1200" dirty="0">
                <a:solidFill>
                  <a:srgbClr val="DADADA"/>
                </a:solidFill>
                <a:latin typeface="Calibri" pitchFamily="34" charset="0"/>
                <a:ea typeface="Calibri" pitchFamily="34" charset="-122"/>
                <a:cs typeface="Calibri" pitchFamily="34" charset="-120"/>
              </a:rPr>
              <a:t>Our midterm prototype told seniors their message “never leaves this screen.” It does — it's sent to an AI model to be checked. For a tool whose entire premise is trust, a false privacy claim isn't a copy bug, it's the failure mode itself. We rewrote it: what's sent, why, and that it's deleted right after — shown, not just promised.</a:t>
            </a:r>
            <a:endParaRPr lang="en-US" sz="1200" dirty="0"/>
          </a:p>
        </p:txBody>
      </p:sp>
      <p:pic>
        <p:nvPicPr>
          <p:cNvPr id="22" name="Image 0" descr="/home/claude/deck/shots/shot_modal_crop.png"/>
          <p:cNvPicPr>
            <a:picLocks noChangeAspect="1"/>
          </p:cNvPicPr>
          <p:nvPr/>
        </p:nvPicPr>
        <p:blipFill>
          <a:blip r:embed="rId3"/>
          <a:stretch>
            <a:fillRect/>
          </a:stretch>
        </p:blipFill>
        <p:spPr>
          <a:xfrm>
            <a:off x="9006840" y="3703320"/>
            <a:ext cx="2194560" cy="2767054"/>
          </a:xfrm>
          <a:prstGeom prst="rect">
            <a:avLst/>
          </a:prstGeom>
        </p:spPr>
      </p:pic>
      <p:sp>
        <p:nvSpPr>
          <p:cNvPr id="23" name="Text 20"/>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4" name="Text 21"/>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DEVELOPMENT OF THE INTERVENTION</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Front end — what the senior actually sees</a:t>
            </a:r>
            <a:endParaRPr lang="en-US" sz="2700" dirty="0"/>
          </a:p>
        </p:txBody>
      </p:sp>
      <p:pic>
        <p:nvPicPr>
          <p:cNvPr id="6" name="Image 0" descr="/home/claude/deck/shots/shot_welcome.png"/>
          <p:cNvPicPr>
            <a:picLocks noChangeAspect="1"/>
          </p:cNvPicPr>
          <p:nvPr/>
        </p:nvPicPr>
        <p:blipFill>
          <a:blip r:embed="rId3"/>
          <a:stretch>
            <a:fillRect/>
          </a:stretch>
        </p:blipFill>
        <p:spPr>
          <a:xfrm>
            <a:off x="457200" y="1508760"/>
            <a:ext cx="1920240" cy="4480560"/>
          </a:xfrm>
          <a:prstGeom prst="rect">
            <a:avLst/>
          </a:prstGeom>
        </p:spPr>
      </p:pic>
      <p:pic>
        <p:nvPicPr>
          <p:cNvPr id="7" name="Image 1" descr="/home/claude/deck/shots/shot_input.png"/>
          <p:cNvPicPr>
            <a:picLocks noChangeAspect="1"/>
          </p:cNvPicPr>
          <p:nvPr/>
        </p:nvPicPr>
        <p:blipFill>
          <a:blip r:embed="rId4"/>
          <a:stretch>
            <a:fillRect/>
          </a:stretch>
        </p:blipFill>
        <p:spPr>
          <a:xfrm>
            <a:off x="2606040" y="1508760"/>
            <a:ext cx="2287946" cy="4480560"/>
          </a:xfrm>
          <a:prstGeom prst="rect">
            <a:avLst/>
          </a:prstGeom>
        </p:spPr>
      </p:pic>
      <p:sp>
        <p:nvSpPr>
          <p:cNvPr id="8" name="Text 4"/>
          <p:cNvSpPr/>
          <p:nvPr/>
        </p:nvSpPr>
        <p:spPr>
          <a:xfrm>
            <a:off x="6172200" y="1600200"/>
            <a:ext cx="5577840" cy="320040"/>
          </a:xfrm>
          <a:prstGeom prst="rect">
            <a:avLst/>
          </a:prstGeom>
          <a:noFill/>
          <a:ln/>
        </p:spPr>
        <p:txBody>
          <a:bodyPr wrap="square" lIns="0" tIns="0" rIns="0" bIns="0" rtlCol="0" anchor="ctr"/>
          <a:lstStyle/>
          <a:p>
            <a:pPr marL="0" indent="0">
              <a:buNone/>
            </a:pPr>
            <a:r>
              <a:rPr lang="en-US" sz="1400" b="1" dirty="0">
                <a:solidFill>
                  <a:srgbClr val="111111"/>
                </a:solidFill>
                <a:latin typeface="Cambria" pitchFamily="34" charset="0"/>
                <a:ea typeface="Cambria" pitchFamily="34" charset="-122"/>
                <a:cs typeface="Cambria" pitchFamily="34" charset="-120"/>
              </a:rPr>
              <a:t>Three ways in</a:t>
            </a:r>
            <a:endParaRPr lang="en-US" sz="1400" dirty="0"/>
          </a:p>
        </p:txBody>
      </p:sp>
      <p:sp>
        <p:nvSpPr>
          <p:cNvPr id="9" name="Text 5"/>
          <p:cNvSpPr/>
          <p:nvPr/>
        </p:nvSpPr>
        <p:spPr>
          <a:xfrm>
            <a:off x="6172200" y="1929384"/>
            <a:ext cx="5577840" cy="777240"/>
          </a:xfrm>
          <a:prstGeom prst="rect">
            <a:avLst/>
          </a:prstGeom>
          <a:noFill/>
          <a:ln/>
        </p:spPr>
        <p:txBody>
          <a:bodyPr wrap="square" lIns="0" tIns="0" rIns="0" bIns="0" rtlCol="0" anchor="ctr"/>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Type, upload a photo, or speak it — never forcing a senior into the one input method they're least comfortable with.</a:t>
            </a:r>
            <a:endParaRPr lang="en-US" sz="1150" dirty="0"/>
          </a:p>
        </p:txBody>
      </p:sp>
      <p:sp>
        <p:nvSpPr>
          <p:cNvPr id="10" name="Text 6"/>
          <p:cNvSpPr/>
          <p:nvPr/>
        </p:nvSpPr>
        <p:spPr>
          <a:xfrm>
            <a:off x="6172200" y="2834640"/>
            <a:ext cx="5577840" cy="320040"/>
          </a:xfrm>
          <a:prstGeom prst="rect">
            <a:avLst/>
          </a:prstGeom>
          <a:noFill/>
          <a:ln/>
        </p:spPr>
        <p:txBody>
          <a:bodyPr wrap="square" lIns="0" tIns="0" rIns="0" bIns="0" rtlCol="0" anchor="ctr"/>
          <a:lstStyle/>
          <a:p>
            <a:pPr marL="0" indent="0">
              <a:buNone/>
            </a:pPr>
            <a:r>
              <a:rPr lang="en-US" sz="1400" b="1" dirty="0">
                <a:solidFill>
                  <a:srgbClr val="111111"/>
                </a:solidFill>
                <a:latin typeface="Cambria" pitchFamily="34" charset="0"/>
                <a:ea typeface="Cambria" pitchFamily="34" charset="-122"/>
                <a:cs typeface="Cambria" pitchFamily="34" charset="-120"/>
              </a:rPr>
              <a:t>Progress that's visible</a:t>
            </a:r>
            <a:endParaRPr lang="en-US" sz="1400" dirty="0"/>
          </a:p>
        </p:txBody>
      </p:sp>
      <p:sp>
        <p:nvSpPr>
          <p:cNvPr id="11" name="Text 7"/>
          <p:cNvSpPr/>
          <p:nvPr/>
        </p:nvSpPr>
        <p:spPr>
          <a:xfrm>
            <a:off x="6172200" y="3163824"/>
            <a:ext cx="5577840" cy="777240"/>
          </a:xfrm>
          <a:prstGeom prst="rect">
            <a:avLst/>
          </a:prstGeom>
          <a:noFill/>
          <a:ln/>
        </p:spPr>
        <p:txBody>
          <a:bodyPr wrap="square" lIns="0" tIns="0" rIns="0" bIns="0" rtlCol="0" anchor="ctr"/>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Step dots answer “how much is left” — open-ended flows breed anxiety on a first try.</a:t>
            </a:r>
            <a:endParaRPr lang="en-US" sz="1150" dirty="0"/>
          </a:p>
        </p:txBody>
      </p:sp>
      <p:sp>
        <p:nvSpPr>
          <p:cNvPr id="12" name="Text 8"/>
          <p:cNvSpPr/>
          <p:nvPr/>
        </p:nvSpPr>
        <p:spPr>
          <a:xfrm>
            <a:off x="6172200" y="4069080"/>
            <a:ext cx="5577840" cy="320040"/>
          </a:xfrm>
          <a:prstGeom prst="rect">
            <a:avLst/>
          </a:prstGeom>
          <a:noFill/>
          <a:ln/>
        </p:spPr>
        <p:txBody>
          <a:bodyPr wrap="square" lIns="0" tIns="0" rIns="0" bIns="0" rtlCol="0" anchor="ctr"/>
          <a:lstStyle/>
          <a:p>
            <a:pPr marL="0" indent="0">
              <a:buNone/>
            </a:pPr>
            <a:r>
              <a:rPr lang="en-US" sz="1400" b="1" dirty="0">
                <a:solidFill>
                  <a:srgbClr val="111111"/>
                </a:solidFill>
                <a:latin typeface="Cambria" pitchFamily="34" charset="0"/>
                <a:ea typeface="Cambria" pitchFamily="34" charset="-122"/>
                <a:cs typeface="Cambria" pitchFamily="34" charset="-120"/>
              </a:rPr>
              <a:t>Text size &amp; read-aloud, up top</a:t>
            </a:r>
            <a:endParaRPr lang="en-US" sz="1400" dirty="0"/>
          </a:p>
        </p:txBody>
      </p:sp>
      <p:sp>
        <p:nvSpPr>
          <p:cNvPr id="13" name="Text 9"/>
          <p:cNvSpPr/>
          <p:nvPr/>
        </p:nvSpPr>
        <p:spPr>
          <a:xfrm>
            <a:off x="6172200" y="4398264"/>
            <a:ext cx="5577840" cy="777240"/>
          </a:xfrm>
          <a:prstGeom prst="rect">
            <a:avLst/>
          </a:prstGeom>
          <a:noFill/>
          <a:ln/>
        </p:spPr>
        <p:txBody>
          <a:bodyPr wrap="square" lIns="0" tIns="0" rIns="0" bIns="0" rtlCol="0" anchor="ctr"/>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Accessibility controls sit in a permanent strip, not three taps deep in a settings menu.</a:t>
            </a:r>
            <a:endParaRPr lang="en-US" sz="1150" dirty="0"/>
          </a:p>
        </p:txBody>
      </p:sp>
      <p:sp>
        <p:nvSpPr>
          <p:cNvPr id="14" name="Text 10"/>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15" name="Text 11"/>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DEVELOPMENT OF THE INTERVENTION</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Back end — Express, Gemini, and a schema that won't bend</a:t>
            </a:r>
            <a:endParaRPr lang="en-US" sz="2700" dirty="0"/>
          </a:p>
        </p:txBody>
      </p:sp>
      <p:sp>
        <p:nvSpPr>
          <p:cNvPr id="6" name="Shape 4"/>
          <p:cNvSpPr/>
          <p:nvPr/>
        </p:nvSpPr>
        <p:spPr>
          <a:xfrm>
            <a:off x="457200" y="1691640"/>
            <a:ext cx="1965960" cy="1005840"/>
          </a:xfrm>
          <a:prstGeom prst="roundRect">
            <a:avLst>
              <a:gd name="adj" fmla="val 7273"/>
            </a:avLst>
          </a:prstGeom>
          <a:solidFill>
            <a:srgbClr val="FAFAF8"/>
          </a:solidFill>
          <a:ln w="12700">
            <a:solidFill>
              <a:srgbClr val="D6D6D2"/>
            </a:solidFill>
            <a:prstDash val="solid"/>
          </a:ln>
        </p:spPr>
        <p:txBody>
          <a:bodyPr/>
          <a:lstStyle/>
          <a:p>
            <a:endParaRPr lang="en-US"/>
          </a:p>
        </p:txBody>
      </p:sp>
      <p:sp>
        <p:nvSpPr>
          <p:cNvPr id="7" name="Text 5"/>
          <p:cNvSpPr/>
          <p:nvPr/>
        </p:nvSpPr>
        <p:spPr>
          <a:xfrm>
            <a:off x="548640" y="1691640"/>
            <a:ext cx="1783080" cy="1005840"/>
          </a:xfrm>
          <a:prstGeom prst="rect">
            <a:avLst/>
          </a:prstGeom>
          <a:noFill/>
          <a:ln/>
        </p:spPr>
        <p:txBody>
          <a:bodyPr wrap="square" rtlCol="0" anchor="ctr"/>
          <a:lstStyle/>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Senior shares</a:t>
            </a:r>
            <a:endParaRPr lang="en-US" sz="1050" dirty="0"/>
          </a:p>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a message</a:t>
            </a:r>
            <a:endParaRPr lang="en-US" sz="1050" dirty="0"/>
          </a:p>
        </p:txBody>
      </p:sp>
      <p:sp>
        <p:nvSpPr>
          <p:cNvPr id="8" name="Text 6"/>
          <p:cNvSpPr/>
          <p:nvPr/>
        </p:nvSpPr>
        <p:spPr>
          <a:xfrm>
            <a:off x="2423160" y="1691640"/>
            <a:ext cx="320040" cy="1005840"/>
          </a:xfrm>
          <a:prstGeom prst="rect">
            <a:avLst/>
          </a:prstGeom>
          <a:noFill/>
          <a:ln/>
        </p:spPr>
        <p:txBody>
          <a:bodyPr wrap="square" rtlCol="0" anchor="ctr"/>
          <a:lstStyle/>
          <a:p>
            <a:pPr marL="0" indent="0" algn="ctr">
              <a:buNone/>
            </a:pPr>
            <a:r>
              <a:rPr lang="en-US" sz="1600" dirty="0">
                <a:solidFill>
                  <a:srgbClr val="B8863A"/>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743200" y="1691640"/>
            <a:ext cx="1965960" cy="1005840"/>
          </a:xfrm>
          <a:prstGeom prst="roundRect">
            <a:avLst>
              <a:gd name="adj" fmla="val 7273"/>
            </a:avLst>
          </a:prstGeom>
          <a:solidFill>
            <a:srgbClr val="FAFAF8"/>
          </a:solidFill>
          <a:ln w="12700">
            <a:solidFill>
              <a:srgbClr val="D6D6D2"/>
            </a:solidFill>
            <a:prstDash val="solid"/>
          </a:ln>
        </p:spPr>
        <p:txBody>
          <a:bodyPr/>
          <a:lstStyle/>
          <a:p>
            <a:endParaRPr lang="en-US"/>
          </a:p>
        </p:txBody>
      </p:sp>
      <p:sp>
        <p:nvSpPr>
          <p:cNvPr id="10" name="Text 8"/>
          <p:cNvSpPr/>
          <p:nvPr/>
        </p:nvSpPr>
        <p:spPr>
          <a:xfrm>
            <a:off x="2834640" y="1691640"/>
            <a:ext cx="1783080" cy="1005840"/>
          </a:xfrm>
          <a:prstGeom prst="rect">
            <a:avLst/>
          </a:prstGeom>
          <a:noFill/>
          <a:ln/>
        </p:spPr>
        <p:txBody>
          <a:bodyPr wrap="square" rtlCol="0" anchor="ctr"/>
          <a:lstStyle/>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Express server</a:t>
            </a:r>
            <a:endParaRPr lang="en-US" sz="1050" dirty="0"/>
          </a:p>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(server.js)</a:t>
            </a:r>
            <a:endParaRPr lang="en-US" sz="1050" dirty="0"/>
          </a:p>
        </p:txBody>
      </p:sp>
      <p:sp>
        <p:nvSpPr>
          <p:cNvPr id="11" name="Text 9"/>
          <p:cNvSpPr/>
          <p:nvPr/>
        </p:nvSpPr>
        <p:spPr>
          <a:xfrm>
            <a:off x="4709160" y="1691640"/>
            <a:ext cx="320040" cy="1005840"/>
          </a:xfrm>
          <a:prstGeom prst="rect">
            <a:avLst/>
          </a:prstGeom>
          <a:noFill/>
          <a:ln/>
        </p:spPr>
        <p:txBody>
          <a:bodyPr wrap="square" rtlCol="0" anchor="ctr"/>
          <a:lstStyle/>
          <a:p>
            <a:pPr marL="0" indent="0" algn="ctr">
              <a:buNone/>
            </a:pPr>
            <a:r>
              <a:rPr lang="en-US" sz="1600" dirty="0">
                <a:solidFill>
                  <a:srgbClr val="B8863A"/>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5029200" y="1691640"/>
            <a:ext cx="1965960" cy="1005840"/>
          </a:xfrm>
          <a:prstGeom prst="roundRect">
            <a:avLst>
              <a:gd name="adj" fmla="val 7273"/>
            </a:avLst>
          </a:prstGeom>
          <a:solidFill>
            <a:srgbClr val="EDEDEA"/>
          </a:solidFill>
          <a:ln w="12700">
            <a:solidFill>
              <a:srgbClr val="B8863A"/>
            </a:solidFill>
            <a:prstDash val="solid"/>
          </a:ln>
        </p:spPr>
        <p:txBody>
          <a:bodyPr/>
          <a:lstStyle/>
          <a:p>
            <a:endParaRPr lang="en-US"/>
          </a:p>
        </p:txBody>
      </p:sp>
      <p:sp>
        <p:nvSpPr>
          <p:cNvPr id="13" name="Text 11"/>
          <p:cNvSpPr/>
          <p:nvPr/>
        </p:nvSpPr>
        <p:spPr>
          <a:xfrm>
            <a:off x="5120640" y="1691640"/>
            <a:ext cx="1783080" cy="1005840"/>
          </a:xfrm>
          <a:prstGeom prst="rect">
            <a:avLst/>
          </a:prstGeom>
          <a:noFill/>
          <a:ln/>
        </p:spPr>
        <p:txBody>
          <a:bodyPr wrap="square" rtlCol="0" anchor="ctr"/>
          <a:lstStyle/>
          <a:p>
            <a:pPr marL="0" indent="0" algn="ctr">
              <a:lnSpc>
                <a:spcPts val="1300"/>
              </a:lnSpc>
              <a:buNone/>
            </a:pPr>
            <a:r>
              <a:rPr lang="en-US" sz="1050" b="1" dirty="0">
                <a:solidFill>
                  <a:srgbClr val="111111"/>
                </a:solidFill>
                <a:latin typeface="Calibri" pitchFamily="34" charset="0"/>
                <a:ea typeface="Calibri" pitchFamily="34" charset="-122"/>
                <a:cs typeface="Calibri" pitchFamily="34" charset="-120"/>
              </a:rPr>
              <a:t>Gemini API</a:t>
            </a:r>
            <a:endParaRPr lang="en-US" sz="1050" dirty="0"/>
          </a:p>
          <a:p>
            <a:pPr marL="0" indent="0" algn="ctr">
              <a:lnSpc>
                <a:spcPts val="1300"/>
              </a:lnSpc>
              <a:buNone/>
            </a:pPr>
            <a:r>
              <a:rPr lang="en-US" sz="1050" b="1" dirty="0">
                <a:solidFill>
                  <a:srgbClr val="111111"/>
                </a:solidFill>
                <a:latin typeface="Calibri" pitchFamily="34" charset="0"/>
                <a:ea typeface="Calibri" pitchFamily="34" charset="-122"/>
                <a:cs typeface="Calibri" pitchFamily="34" charset="-120"/>
              </a:rPr>
              <a:t>+ system prompt</a:t>
            </a:r>
            <a:endParaRPr lang="en-US" sz="1050" dirty="0"/>
          </a:p>
        </p:txBody>
      </p:sp>
      <p:sp>
        <p:nvSpPr>
          <p:cNvPr id="14" name="Text 12"/>
          <p:cNvSpPr/>
          <p:nvPr/>
        </p:nvSpPr>
        <p:spPr>
          <a:xfrm>
            <a:off x="6995160" y="1691640"/>
            <a:ext cx="320040" cy="1005840"/>
          </a:xfrm>
          <a:prstGeom prst="rect">
            <a:avLst/>
          </a:prstGeom>
          <a:noFill/>
          <a:ln/>
        </p:spPr>
        <p:txBody>
          <a:bodyPr wrap="square" rtlCol="0" anchor="ctr"/>
          <a:lstStyle/>
          <a:p>
            <a:pPr marL="0" indent="0" algn="ctr">
              <a:buNone/>
            </a:pPr>
            <a:r>
              <a:rPr lang="en-US" sz="1600" dirty="0">
                <a:solidFill>
                  <a:srgbClr val="B8863A"/>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7315200" y="1691640"/>
            <a:ext cx="1965960" cy="1005840"/>
          </a:xfrm>
          <a:prstGeom prst="roundRect">
            <a:avLst>
              <a:gd name="adj" fmla="val 7273"/>
            </a:avLst>
          </a:prstGeom>
          <a:solidFill>
            <a:srgbClr val="FAFAF8"/>
          </a:solidFill>
          <a:ln w="12700">
            <a:solidFill>
              <a:srgbClr val="D6D6D2"/>
            </a:solidFill>
            <a:prstDash val="solid"/>
          </a:ln>
        </p:spPr>
        <p:txBody>
          <a:bodyPr/>
          <a:lstStyle/>
          <a:p>
            <a:endParaRPr lang="en-US"/>
          </a:p>
        </p:txBody>
      </p:sp>
      <p:sp>
        <p:nvSpPr>
          <p:cNvPr id="16" name="Text 14"/>
          <p:cNvSpPr/>
          <p:nvPr/>
        </p:nvSpPr>
        <p:spPr>
          <a:xfrm>
            <a:off x="7406640" y="1691640"/>
            <a:ext cx="1783080" cy="1005840"/>
          </a:xfrm>
          <a:prstGeom prst="rect">
            <a:avLst/>
          </a:prstGeom>
          <a:noFill/>
          <a:ln/>
        </p:spPr>
        <p:txBody>
          <a:bodyPr wrap="square" rtlCol="0" anchor="ctr"/>
          <a:lstStyle/>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Structured JSON</a:t>
            </a:r>
            <a:endParaRPr lang="en-US" sz="1050" dirty="0"/>
          </a:p>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(schema-locked)</a:t>
            </a:r>
            <a:endParaRPr lang="en-US" sz="1050" dirty="0"/>
          </a:p>
        </p:txBody>
      </p:sp>
      <p:sp>
        <p:nvSpPr>
          <p:cNvPr id="17" name="Text 15"/>
          <p:cNvSpPr/>
          <p:nvPr/>
        </p:nvSpPr>
        <p:spPr>
          <a:xfrm>
            <a:off x="9281160" y="1691640"/>
            <a:ext cx="320040" cy="1005840"/>
          </a:xfrm>
          <a:prstGeom prst="rect">
            <a:avLst/>
          </a:prstGeom>
          <a:noFill/>
          <a:ln/>
        </p:spPr>
        <p:txBody>
          <a:bodyPr wrap="square" rtlCol="0" anchor="ctr"/>
          <a:lstStyle/>
          <a:p>
            <a:pPr marL="0" indent="0" algn="ctr">
              <a:buNone/>
            </a:pPr>
            <a:r>
              <a:rPr lang="en-US" sz="1600" dirty="0">
                <a:solidFill>
                  <a:srgbClr val="B8863A"/>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601200" y="1691640"/>
            <a:ext cx="1965960" cy="1005840"/>
          </a:xfrm>
          <a:prstGeom prst="roundRect">
            <a:avLst>
              <a:gd name="adj" fmla="val 7273"/>
            </a:avLst>
          </a:prstGeom>
          <a:solidFill>
            <a:srgbClr val="FAFAF8"/>
          </a:solidFill>
          <a:ln w="12700">
            <a:solidFill>
              <a:srgbClr val="D6D6D2"/>
            </a:solidFill>
            <a:prstDash val="solid"/>
          </a:ln>
        </p:spPr>
        <p:txBody>
          <a:bodyPr/>
          <a:lstStyle/>
          <a:p>
            <a:endParaRPr lang="en-US"/>
          </a:p>
        </p:txBody>
      </p:sp>
      <p:sp>
        <p:nvSpPr>
          <p:cNvPr id="19" name="Text 17"/>
          <p:cNvSpPr/>
          <p:nvPr/>
        </p:nvSpPr>
        <p:spPr>
          <a:xfrm>
            <a:off x="9692640" y="1691640"/>
            <a:ext cx="1783080" cy="1005840"/>
          </a:xfrm>
          <a:prstGeom prst="rect">
            <a:avLst/>
          </a:prstGeom>
          <a:noFill/>
          <a:ln/>
        </p:spPr>
        <p:txBody>
          <a:bodyPr wrap="square" rtlCol="0" anchor="ctr"/>
          <a:lstStyle/>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Plain-language</a:t>
            </a:r>
            <a:endParaRPr lang="en-US" sz="1050" dirty="0"/>
          </a:p>
          <a:p>
            <a:pPr marL="0" indent="0" algn="ctr">
              <a:lnSpc>
                <a:spcPts val="1300"/>
              </a:lnSpc>
              <a:buNone/>
            </a:pPr>
            <a:r>
              <a:rPr lang="en-US" sz="1050" dirty="0">
                <a:solidFill>
                  <a:srgbClr val="111111"/>
                </a:solidFill>
                <a:latin typeface="Calibri" pitchFamily="34" charset="0"/>
                <a:ea typeface="Calibri" pitchFamily="34" charset="-122"/>
                <a:cs typeface="Calibri" pitchFamily="34" charset="-120"/>
              </a:rPr>
              <a:t>result on screen</a:t>
            </a:r>
            <a:endParaRPr lang="en-US" sz="1050" dirty="0"/>
          </a:p>
        </p:txBody>
      </p:sp>
      <p:sp>
        <p:nvSpPr>
          <p:cNvPr id="20" name="Shape 18"/>
          <p:cNvSpPr/>
          <p:nvPr/>
        </p:nvSpPr>
        <p:spPr>
          <a:xfrm>
            <a:off x="457200" y="3063240"/>
            <a:ext cx="5349240" cy="2651760"/>
          </a:xfrm>
          <a:prstGeom prst="roundRect">
            <a:avLst>
              <a:gd name="adj" fmla="val 2759"/>
            </a:avLst>
          </a:prstGeom>
          <a:solidFill>
            <a:srgbClr val="FAFAF8"/>
          </a:solidFill>
          <a:ln w="12700">
            <a:solidFill>
              <a:srgbClr val="D6D6D2"/>
            </a:solidFill>
            <a:prstDash val="solid"/>
          </a:ln>
        </p:spPr>
        <p:txBody>
          <a:bodyPr/>
          <a:lstStyle/>
          <a:p>
            <a:endParaRPr lang="en-US"/>
          </a:p>
        </p:txBody>
      </p:sp>
      <p:sp>
        <p:nvSpPr>
          <p:cNvPr id="21" name="Text 19"/>
          <p:cNvSpPr/>
          <p:nvPr/>
        </p:nvSpPr>
        <p:spPr>
          <a:xfrm>
            <a:off x="777240" y="3246120"/>
            <a:ext cx="4754880" cy="274320"/>
          </a:xfrm>
          <a:prstGeom prst="rect">
            <a:avLst/>
          </a:prstGeom>
          <a:noFill/>
          <a:ln/>
        </p:spPr>
        <p:txBody>
          <a:bodyPr wrap="square" rtlCol="0" anchor="ctr"/>
          <a:lstStyle/>
          <a:p>
            <a:pPr marL="0" indent="0">
              <a:buNone/>
            </a:pPr>
            <a:r>
              <a:rPr lang="en-US" sz="1000" kern="0" spc="100" dirty="0">
                <a:solidFill>
                  <a:srgbClr val="B8863A"/>
                </a:solidFill>
                <a:latin typeface="Courier New" pitchFamily="34" charset="0"/>
                <a:ea typeface="Courier New" pitchFamily="34" charset="-122"/>
                <a:cs typeface="Courier New" pitchFamily="34" charset="-120"/>
              </a:rPr>
              <a:t>SCHEMA-LOCKED, NOT PROMPT-HOPED</a:t>
            </a:r>
            <a:endParaRPr lang="en-US" sz="1000" dirty="0"/>
          </a:p>
        </p:txBody>
      </p:sp>
      <p:sp>
        <p:nvSpPr>
          <p:cNvPr id="22" name="Text 20"/>
          <p:cNvSpPr/>
          <p:nvPr/>
        </p:nvSpPr>
        <p:spPr>
          <a:xfrm>
            <a:off x="777240" y="3566160"/>
            <a:ext cx="4754880" cy="2011680"/>
          </a:xfrm>
          <a:prstGeom prst="rect">
            <a:avLst/>
          </a:prstGeom>
          <a:noFill/>
          <a:ln/>
        </p:spPr>
        <p:txBody>
          <a:bodyPr wrap="square" rtlCol="0" anchor="ctr"/>
          <a:lstStyle/>
          <a:p>
            <a:pPr marL="0" indent="0">
              <a:lnSpc>
                <a:spcPts val="1700"/>
              </a:lnSpc>
              <a:buNone/>
            </a:pPr>
            <a:r>
              <a:rPr lang="en-US" sz="1200" dirty="0">
                <a:solidFill>
                  <a:srgbClr val="555555"/>
                </a:solidFill>
                <a:latin typeface="Calibri" pitchFamily="34" charset="0"/>
                <a:ea typeface="Calibri" pitchFamily="34" charset="-122"/>
                <a:cs typeface="Calibri" pitchFamily="34" charset="-120"/>
              </a:rPr>
              <a:t>Gemini's structured-output mode hard-constrains the response to a fixed JSON shape. verdict is an enum — warning / unsure / safe — not free text the model could drift on. That's what makes a calibrated three-way verdict actually reliable, not just requested in a prompt and hoped for.</a:t>
            </a:r>
            <a:endParaRPr lang="en-US" sz="1200" dirty="0"/>
          </a:p>
        </p:txBody>
      </p:sp>
      <p:sp>
        <p:nvSpPr>
          <p:cNvPr id="23" name="Shape 21"/>
          <p:cNvSpPr/>
          <p:nvPr/>
        </p:nvSpPr>
        <p:spPr>
          <a:xfrm>
            <a:off x="6080760" y="3063240"/>
            <a:ext cx="5623560" cy="2651760"/>
          </a:xfrm>
          <a:prstGeom prst="roundRect">
            <a:avLst>
              <a:gd name="adj" fmla="val 2759"/>
            </a:avLst>
          </a:prstGeom>
          <a:solidFill>
            <a:srgbClr val="111111"/>
          </a:solidFill>
          <a:ln/>
        </p:spPr>
        <p:txBody>
          <a:bodyPr/>
          <a:lstStyle/>
          <a:p>
            <a:endParaRPr lang="en-US"/>
          </a:p>
        </p:txBody>
      </p:sp>
      <p:sp>
        <p:nvSpPr>
          <p:cNvPr id="24" name="Text 22"/>
          <p:cNvSpPr/>
          <p:nvPr/>
        </p:nvSpPr>
        <p:spPr>
          <a:xfrm>
            <a:off x="6400800" y="3246120"/>
            <a:ext cx="5029200" cy="274320"/>
          </a:xfrm>
          <a:prstGeom prst="rect">
            <a:avLst/>
          </a:prstGeom>
          <a:noFill/>
          <a:ln/>
        </p:spPr>
        <p:txBody>
          <a:bodyPr wrap="square" rtlCol="0" anchor="ctr"/>
          <a:lstStyle/>
          <a:p>
            <a:pPr marL="0" indent="0">
              <a:buNone/>
            </a:pPr>
            <a:r>
              <a:rPr lang="en-US" sz="1000" kern="0" spc="100" dirty="0">
                <a:solidFill>
                  <a:srgbClr val="B8863A"/>
                </a:solidFill>
                <a:latin typeface="Courier New" pitchFamily="34" charset="0"/>
                <a:ea typeface="Courier New" pitchFamily="34" charset="-122"/>
                <a:cs typeface="Courier New" pitchFamily="34" charset="-120"/>
              </a:rPr>
              <a:t>PRIVACY IN PRACTICE</a:t>
            </a:r>
            <a:endParaRPr lang="en-US" sz="1000" dirty="0"/>
          </a:p>
        </p:txBody>
      </p:sp>
      <p:sp>
        <p:nvSpPr>
          <p:cNvPr id="25" name="Text 23"/>
          <p:cNvSpPr/>
          <p:nvPr/>
        </p:nvSpPr>
        <p:spPr>
          <a:xfrm>
            <a:off x="6400800" y="3566160"/>
            <a:ext cx="5029200" cy="2011680"/>
          </a:xfrm>
          <a:prstGeom prst="rect">
            <a:avLst/>
          </a:prstGeom>
          <a:noFill/>
          <a:ln/>
        </p:spPr>
        <p:txBody>
          <a:bodyPr wrap="square" rtlCol="0" anchor="ctr"/>
          <a:lstStyle/>
          <a:p>
            <a:pPr marL="0" indent="0">
              <a:lnSpc>
                <a:spcPts val="1700"/>
              </a:lnSpc>
              <a:buNone/>
            </a:pPr>
            <a:r>
              <a:rPr lang="en-US" sz="1200" dirty="0">
                <a:solidFill>
                  <a:srgbClr val="DADADA"/>
                </a:solidFill>
                <a:latin typeface="Calibri" pitchFamily="34" charset="0"/>
                <a:ea typeface="Calibri" pitchFamily="34" charset="-122"/>
                <a:cs typeface="Calibri" pitchFamily="34" charset="-120"/>
              </a:rPr>
              <a:t>The server holds the Gemini API key and forwards only the one message, photo, or clip being checked, for that one request. Nothing is stored server-side, nothing is logged with identity attached — the honesty fix on the front end describes a pipeline that's actually true on the back end.</a:t>
            </a:r>
            <a:endParaRPr lang="en-US" sz="1200" dirty="0"/>
          </a:p>
        </p:txBody>
      </p:sp>
      <p:sp>
        <p:nvSpPr>
          <p:cNvPr id="26" name="Shape 24"/>
          <p:cNvSpPr/>
          <p:nvPr/>
        </p:nvSpPr>
        <p:spPr>
          <a:xfrm>
            <a:off x="8412480" y="438912"/>
            <a:ext cx="329184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27" name="Text 25"/>
          <p:cNvSpPr/>
          <p:nvPr/>
        </p:nvSpPr>
        <p:spPr>
          <a:xfrm>
            <a:off x="8412480" y="438912"/>
            <a:ext cx="329184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AI FAIRNESS + PRIVACY &amp; SURVEILLANCE</a:t>
            </a:r>
            <a:endParaRPr lang="en-US" sz="850" dirty="0"/>
          </a:p>
        </p:txBody>
      </p:sp>
      <p:sp>
        <p:nvSpPr>
          <p:cNvPr id="28" name="Text 26"/>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9" name="Text 27"/>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AI FAIRNESS IN PRACTICE</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Why we built a third answer: “we're not sure”</a:t>
            </a:r>
            <a:endParaRPr lang="en-US" sz="2700" dirty="0"/>
          </a:p>
        </p:txBody>
      </p:sp>
      <p:pic>
        <p:nvPicPr>
          <p:cNvPr id="6" name="Image 0" descr="/home/claude/deck/shots/shot_unsure.png"/>
          <p:cNvPicPr>
            <a:picLocks noChangeAspect="1"/>
          </p:cNvPicPr>
          <p:nvPr/>
        </p:nvPicPr>
        <p:blipFill>
          <a:blip r:embed="rId3"/>
          <a:stretch>
            <a:fillRect/>
          </a:stretch>
        </p:blipFill>
        <p:spPr>
          <a:xfrm>
            <a:off x="457200" y="1508760"/>
            <a:ext cx="1625191" cy="4480560"/>
          </a:xfrm>
          <a:prstGeom prst="rect">
            <a:avLst/>
          </a:prstGeom>
        </p:spPr>
      </p:pic>
      <p:sp>
        <p:nvSpPr>
          <p:cNvPr id="7" name="Text 4"/>
          <p:cNvSpPr/>
          <p:nvPr/>
        </p:nvSpPr>
        <p:spPr>
          <a:xfrm>
            <a:off x="3703320" y="1600200"/>
            <a:ext cx="8046720" cy="365760"/>
          </a:xfrm>
          <a:prstGeom prst="rect">
            <a:avLst/>
          </a:prstGeom>
          <a:noFill/>
          <a:ln/>
        </p:spPr>
        <p:txBody>
          <a:bodyPr wrap="square" lIns="0" tIns="0" rIns="0" bIns="0" rtlCol="0" anchor="ctr"/>
          <a:lstStyle/>
          <a:p>
            <a:pPr marL="0" indent="0">
              <a:buNone/>
            </a:pPr>
            <a:r>
              <a:rPr lang="en-US" sz="1500" b="1" dirty="0">
                <a:solidFill>
                  <a:srgbClr val="111111"/>
                </a:solidFill>
                <a:latin typeface="Cambria" pitchFamily="34" charset="0"/>
                <a:ea typeface="Cambria" pitchFamily="34" charset="-122"/>
                <a:cs typeface="Cambria" pitchFamily="34" charset="-120"/>
              </a:rPr>
              <a:t>A binary verdict is a fairness problem</a:t>
            </a:r>
            <a:endParaRPr lang="en-US" sz="1500" dirty="0"/>
          </a:p>
        </p:txBody>
      </p:sp>
      <p:sp>
        <p:nvSpPr>
          <p:cNvPr id="8" name="Text 5"/>
          <p:cNvSpPr/>
          <p:nvPr/>
        </p:nvSpPr>
        <p:spPr>
          <a:xfrm>
            <a:off x="3703320" y="1965960"/>
            <a:ext cx="8046720" cy="914400"/>
          </a:xfrm>
          <a:prstGeom prst="rect">
            <a:avLst/>
          </a:prstGeom>
          <a:noFill/>
          <a:ln/>
        </p:spPr>
        <p:txBody>
          <a:bodyPr wrap="square" lIns="0" tIns="0" rIns="0" bIns="0" rtlCol="0" anchor="ctr"/>
          <a:lstStyle/>
          <a:p>
            <a:pPr marL="0" indent="0">
              <a:lnSpc>
                <a:spcPts val="1600"/>
              </a:lnSpc>
              <a:buNone/>
            </a:pPr>
            <a:r>
              <a:rPr lang="en-US" sz="1200" dirty="0">
                <a:solidFill>
                  <a:srgbClr val="555555"/>
                </a:solidFill>
                <a:latin typeface="Calibri" pitchFamily="34" charset="0"/>
                <a:ea typeface="Calibri" pitchFamily="34" charset="-122"/>
                <a:cs typeface="Calibri" pitchFamily="34" charset="-120"/>
              </a:rPr>
              <a:t>Warning/safe forces false confidence onto genuinely ambiguous messages — and the cost of being confidently wrong falls entirely on the senior.</a:t>
            </a:r>
            <a:endParaRPr lang="en-US" sz="1200" dirty="0"/>
          </a:p>
        </p:txBody>
      </p:sp>
      <p:sp>
        <p:nvSpPr>
          <p:cNvPr id="9" name="Text 6"/>
          <p:cNvSpPr/>
          <p:nvPr/>
        </p:nvSpPr>
        <p:spPr>
          <a:xfrm>
            <a:off x="3703320" y="3017520"/>
            <a:ext cx="8046720" cy="365760"/>
          </a:xfrm>
          <a:prstGeom prst="rect">
            <a:avLst/>
          </a:prstGeom>
          <a:noFill/>
          <a:ln/>
        </p:spPr>
        <p:txBody>
          <a:bodyPr wrap="square" lIns="0" tIns="0" rIns="0" bIns="0" rtlCol="0" anchor="ctr"/>
          <a:lstStyle/>
          <a:p>
            <a:pPr marL="0" indent="0">
              <a:buNone/>
            </a:pPr>
            <a:r>
              <a:rPr lang="en-US" sz="1500" b="1" dirty="0">
                <a:solidFill>
                  <a:srgbClr val="111111"/>
                </a:solidFill>
                <a:latin typeface="Cambria" pitchFamily="34" charset="0"/>
                <a:ea typeface="Cambria" pitchFamily="34" charset="-122"/>
                <a:cs typeface="Cambria" pitchFamily="34" charset="-120"/>
              </a:rPr>
              <a:t>Uncertainty, shown honestly</a:t>
            </a:r>
            <a:endParaRPr lang="en-US" sz="1500" dirty="0"/>
          </a:p>
        </p:txBody>
      </p:sp>
      <p:sp>
        <p:nvSpPr>
          <p:cNvPr id="10" name="Text 7"/>
          <p:cNvSpPr/>
          <p:nvPr/>
        </p:nvSpPr>
        <p:spPr>
          <a:xfrm>
            <a:off x="3703320" y="3383280"/>
            <a:ext cx="8046720" cy="914400"/>
          </a:xfrm>
          <a:prstGeom prst="rect">
            <a:avLst/>
          </a:prstGeom>
          <a:noFill/>
          <a:ln/>
        </p:spPr>
        <p:txBody>
          <a:bodyPr wrap="square" lIns="0" tIns="0" rIns="0" bIns="0" rtlCol="0" anchor="ctr"/>
          <a:lstStyle/>
          <a:p>
            <a:pPr marL="0" indent="0">
              <a:lnSpc>
                <a:spcPts val="1600"/>
              </a:lnSpc>
              <a:buNone/>
            </a:pPr>
            <a:r>
              <a:rPr lang="en-US" sz="1200" dirty="0">
                <a:solidFill>
                  <a:srgbClr val="555555"/>
                </a:solidFill>
                <a:latin typeface="Calibri" pitchFamily="34" charset="0"/>
                <a:ea typeface="Calibri" pitchFamily="34" charset="-122"/>
                <a:cs typeface="Calibri" pitchFamily="34" charset="-120"/>
              </a:rPr>
              <a:t>“Unsure” lists both what looks concerning and what looks reassuring — the model's actual confidence, made legible instead of hidden.</a:t>
            </a:r>
            <a:endParaRPr lang="en-US" sz="1200" dirty="0"/>
          </a:p>
        </p:txBody>
      </p:sp>
      <p:sp>
        <p:nvSpPr>
          <p:cNvPr id="11" name="Text 8"/>
          <p:cNvSpPr/>
          <p:nvPr/>
        </p:nvSpPr>
        <p:spPr>
          <a:xfrm>
            <a:off x="3703320" y="4434840"/>
            <a:ext cx="8046720" cy="365760"/>
          </a:xfrm>
          <a:prstGeom prst="rect">
            <a:avLst/>
          </a:prstGeom>
          <a:noFill/>
          <a:ln/>
        </p:spPr>
        <p:txBody>
          <a:bodyPr wrap="square" lIns="0" tIns="0" rIns="0" bIns="0" rtlCol="0" anchor="ctr"/>
          <a:lstStyle/>
          <a:p>
            <a:pPr marL="0" indent="0">
              <a:buNone/>
            </a:pPr>
            <a:r>
              <a:rPr lang="en-US" sz="1500" b="1" dirty="0">
                <a:solidFill>
                  <a:srgbClr val="111111"/>
                </a:solidFill>
                <a:latin typeface="Cambria" pitchFamily="34" charset="0"/>
                <a:ea typeface="Cambria" pitchFamily="34" charset="-122"/>
                <a:cs typeface="Cambria" pitchFamily="34" charset="-120"/>
              </a:rPr>
              <a:t>The model has to earn each verdict</a:t>
            </a:r>
            <a:endParaRPr lang="en-US" sz="1500" dirty="0"/>
          </a:p>
        </p:txBody>
      </p:sp>
      <p:sp>
        <p:nvSpPr>
          <p:cNvPr id="12" name="Text 9"/>
          <p:cNvSpPr/>
          <p:nvPr/>
        </p:nvSpPr>
        <p:spPr>
          <a:xfrm>
            <a:off x="3703320" y="4800600"/>
            <a:ext cx="8046720" cy="914400"/>
          </a:xfrm>
          <a:prstGeom prst="rect">
            <a:avLst/>
          </a:prstGeom>
          <a:noFill/>
          <a:ln/>
        </p:spPr>
        <p:txBody>
          <a:bodyPr wrap="square" lIns="0" tIns="0" rIns="0" bIns="0" rtlCol="0" anchor="ctr"/>
          <a:lstStyle/>
          <a:p>
            <a:pPr marL="0" indent="0">
              <a:lnSpc>
                <a:spcPts val="1600"/>
              </a:lnSpc>
              <a:buNone/>
            </a:pPr>
            <a:r>
              <a:rPr lang="en-US" sz="1200" dirty="0">
                <a:solidFill>
                  <a:srgbClr val="555555"/>
                </a:solidFill>
                <a:latin typeface="Calibri" pitchFamily="34" charset="0"/>
                <a:ea typeface="Calibri" pitchFamily="34" charset="-122"/>
                <a:cs typeface="Calibri" pitchFamily="34" charset="-120"/>
              </a:rPr>
              <a:t>A hard-constrained schema (previous slide) is what makes offering a third state safe to ship — it can't silently collapse into “safe” on a parsing hiccup.</a:t>
            </a:r>
            <a:endParaRPr lang="en-US" sz="1200" dirty="0"/>
          </a:p>
        </p:txBody>
      </p:sp>
      <p:sp>
        <p:nvSpPr>
          <p:cNvPr id="13" name="Shape 10"/>
          <p:cNvSpPr/>
          <p:nvPr/>
        </p:nvSpPr>
        <p:spPr>
          <a:xfrm>
            <a:off x="9052560" y="438912"/>
            <a:ext cx="265176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14" name="Text 11"/>
          <p:cNvSpPr/>
          <p:nvPr/>
        </p:nvSpPr>
        <p:spPr>
          <a:xfrm>
            <a:off x="9052560" y="438912"/>
            <a:ext cx="2651760" cy="292608"/>
          </a:xfrm>
          <a:prstGeom prst="rect">
            <a:avLst/>
          </a:prstGeom>
          <a:noFill/>
          <a:ln/>
        </p:spPr>
        <p:txBody>
          <a:bodyPr wrap="square" lIns="0" tIns="0" rIns="0" bIns="0" rtlCol="0" anchor="ctr"/>
          <a:lstStyle/>
          <a:p>
            <a:pPr marL="0" indent="0" algn="ctr">
              <a:buNone/>
            </a:pPr>
            <a:r>
              <a:rPr lang="en-US" sz="850" kern="0" spc="50" dirty="0">
                <a:solidFill>
                  <a:srgbClr val="B8863A"/>
                </a:solidFill>
                <a:latin typeface="Courier New" pitchFamily="34" charset="0"/>
                <a:ea typeface="Courier New" pitchFamily="34" charset="-122"/>
                <a:cs typeface="Courier New" pitchFamily="34" charset="-120"/>
              </a:rPr>
              <a:t>DESIGN LENS — AI FAIRNESS</a:t>
            </a:r>
            <a:endParaRPr lang="en-US" sz="850" dirty="0"/>
          </a:p>
        </p:txBody>
      </p:sp>
      <p:sp>
        <p:nvSpPr>
          <p:cNvPr id="15" name="Text 12"/>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16" name="Text 13"/>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09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IMPROVEMENTS SINCE MIDTERM</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Three fixes that came directly from critique</a:t>
            </a:r>
            <a:endParaRPr lang="en-US" sz="2700" dirty="0"/>
          </a:p>
        </p:txBody>
      </p:sp>
      <p:sp>
        <p:nvSpPr>
          <p:cNvPr id="6" name="Shape 4"/>
          <p:cNvSpPr/>
          <p:nvPr/>
        </p:nvSpPr>
        <p:spPr>
          <a:xfrm>
            <a:off x="457200" y="1600200"/>
            <a:ext cx="3566160" cy="3657600"/>
          </a:xfrm>
          <a:prstGeom prst="roundRect">
            <a:avLst>
              <a:gd name="adj" fmla="val 2051"/>
            </a:avLst>
          </a:prstGeom>
          <a:solidFill>
            <a:srgbClr val="FAFAF8"/>
          </a:solidFill>
          <a:ln w="12700">
            <a:solidFill>
              <a:srgbClr val="D6D6D2"/>
            </a:solidFill>
            <a:prstDash val="solid"/>
          </a:ln>
        </p:spPr>
        <p:txBody>
          <a:bodyPr/>
          <a:lstStyle/>
          <a:p>
            <a:endParaRPr lang="en-US"/>
          </a:p>
        </p:txBody>
      </p:sp>
      <p:sp>
        <p:nvSpPr>
          <p:cNvPr id="7" name="Text 5"/>
          <p:cNvSpPr/>
          <p:nvPr/>
        </p:nvSpPr>
        <p:spPr>
          <a:xfrm>
            <a:off x="685800" y="1783080"/>
            <a:ext cx="731520" cy="548640"/>
          </a:xfrm>
          <a:prstGeom prst="rect">
            <a:avLst/>
          </a:prstGeom>
          <a:noFill/>
          <a:ln/>
        </p:spPr>
        <p:txBody>
          <a:bodyPr wrap="square" lIns="0" tIns="0" rIns="0" bIns="0" rtlCol="0" anchor="ctr"/>
          <a:lstStyle/>
          <a:p>
            <a:pPr marL="0" indent="0">
              <a:buNone/>
            </a:pPr>
            <a:r>
              <a:rPr lang="en-US" sz="2400" b="1" dirty="0">
                <a:solidFill>
                  <a:srgbClr val="B8863A"/>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685800" y="2331720"/>
            <a:ext cx="3108960" cy="777240"/>
          </a:xfrm>
          <a:prstGeom prst="rect">
            <a:avLst/>
          </a:prstGeom>
          <a:noFill/>
          <a:ln/>
        </p:spPr>
        <p:txBody>
          <a:bodyPr wrap="square" lIns="0" tIns="0" rIns="0" bIns="0" rtlCol="0" anchor="ctr"/>
          <a:lstStyle/>
          <a:p>
            <a:pPr marL="0" indent="0">
              <a:lnSpc>
                <a:spcPts val="1700"/>
              </a:lnSpc>
              <a:buNone/>
            </a:pPr>
            <a:r>
              <a:rPr lang="en-US" sz="1450" b="1" dirty="0">
                <a:solidFill>
                  <a:srgbClr val="111111"/>
                </a:solidFill>
                <a:latin typeface="Cambria" pitchFamily="34" charset="0"/>
                <a:ea typeface="Cambria" pitchFamily="34" charset="-122"/>
                <a:cs typeface="Cambria" pitchFamily="34" charset="-120"/>
              </a:rPr>
              <a:t>Fixed a false privacy claim</a:t>
            </a:r>
            <a:endParaRPr lang="en-US" sz="1450" dirty="0"/>
          </a:p>
        </p:txBody>
      </p:sp>
      <p:sp>
        <p:nvSpPr>
          <p:cNvPr id="9" name="Text 7"/>
          <p:cNvSpPr/>
          <p:nvPr/>
        </p:nvSpPr>
        <p:spPr>
          <a:xfrm>
            <a:off x="685800" y="3200400"/>
            <a:ext cx="3108960" cy="1417320"/>
          </a:xfrm>
          <a:prstGeom prst="rect">
            <a:avLst/>
          </a:prstGeom>
          <a:noFill/>
          <a:ln/>
        </p:spPr>
        <p:txBody>
          <a:bodyPr wrap="square" lIns="0" tIns="0" rIns="0" bIns="0" rtlCol="0" anchor="ctr"/>
          <a:lstStyle/>
          <a:p>
            <a:pPr marL="0" indent="0">
              <a:lnSpc>
                <a:spcPts val="1500"/>
              </a:lnSpc>
              <a:buNone/>
            </a:pPr>
            <a:r>
              <a:rPr lang="en-US" sz="1100" dirty="0">
                <a:solidFill>
                  <a:srgbClr val="555555"/>
                </a:solidFill>
                <a:latin typeface="Calibri" pitchFamily="34" charset="0"/>
                <a:ea typeface="Calibri" pitchFamily="34" charset="-122"/>
                <a:cs typeface="Calibri" pitchFamily="34" charset="-120"/>
              </a:rPr>
              <a:t>“Never leaves this screen” became an honest, still-reassuring account of what actually happens to a message.</a:t>
            </a:r>
            <a:endParaRPr lang="en-US" sz="1100" dirty="0"/>
          </a:p>
        </p:txBody>
      </p:sp>
      <p:sp>
        <p:nvSpPr>
          <p:cNvPr id="10" name="Shape 8"/>
          <p:cNvSpPr/>
          <p:nvPr/>
        </p:nvSpPr>
        <p:spPr>
          <a:xfrm>
            <a:off x="685800" y="4709160"/>
            <a:ext cx="310896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11" name="Text 9"/>
          <p:cNvSpPr/>
          <p:nvPr/>
        </p:nvSpPr>
        <p:spPr>
          <a:xfrm>
            <a:off x="685800" y="4709160"/>
            <a:ext cx="3108960" cy="292608"/>
          </a:xfrm>
          <a:prstGeom prst="rect">
            <a:avLst/>
          </a:prstGeom>
          <a:noFill/>
          <a:ln/>
        </p:spPr>
        <p:txBody>
          <a:bodyPr wrap="square" lIns="0" tIns="0" rIns="0" bIns="0" rtlCol="0" anchor="ctr"/>
          <a:lstStyle/>
          <a:p>
            <a:pPr marL="0" indent="0" algn="ctr">
              <a:buNone/>
            </a:pPr>
            <a:r>
              <a:rPr lang="en-US" sz="800" dirty="0">
                <a:solidFill>
                  <a:srgbClr val="B8863A"/>
                </a:solidFill>
                <a:latin typeface="Courier New" pitchFamily="34" charset="0"/>
                <a:ea typeface="Courier New" pitchFamily="34" charset="-122"/>
                <a:cs typeface="Courier New" pitchFamily="34" charset="-120"/>
              </a:rPr>
              <a:t>PRIVACY &amp; SURVEILLANCE AI</a:t>
            </a:r>
            <a:endParaRPr lang="en-US" sz="800" dirty="0"/>
          </a:p>
        </p:txBody>
      </p:sp>
      <p:sp>
        <p:nvSpPr>
          <p:cNvPr id="12" name="Shape 10"/>
          <p:cNvSpPr/>
          <p:nvPr/>
        </p:nvSpPr>
        <p:spPr>
          <a:xfrm>
            <a:off x="4251960" y="1600200"/>
            <a:ext cx="3566160" cy="3657600"/>
          </a:xfrm>
          <a:prstGeom prst="roundRect">
            <a:avLst>
              <a:gd name="adj" fmla="val 2051"/>
            </a:avLst>
          </a:prstGeom>
          <a:solidFill>
            <a:srgbClr val="FAFAF8"/>
          </a:solidFill>
          <a:ln w="12700">
            <a:solidFill>
              <a:srgbClr val="D6D6D2"/>
            </a:solidFill>
            <a:prstDash val="solid"/>
          </a:ln>
        </p:spPr>
        <p:txBody>
          <a:bodyPr/>
          <a:lstStyle/>
          <a:p>
            <a:endParaRPr lang="en-US"/>
          </a:p>
        </p:txBody>
      </p:sp>
      <p:sp>
        <p:nvSpPr>
          <p:cNvPr id="13" name="Text 11"/>
          <p:cNvSpPr/>
          <p:nvPr/>
        </p:nvSpPr>
        <p:spPr>
          <a:xfrm>
            <a:off x="4480560" y="1783080"/>
            <a:ext cx="731520" cy="548640"/>
          </a:xfrm>
          <a:prstGeom prst="rect">
            <a:avLst/>
          </a:prstGeom>
          <a:noFill/>
          <a:ln/>
        </p:spPr>
        <p:txBody>
          <a:bodyPr wrap="square" lIns="0" tIns="0" rIns="0" bIns="0" rtlCol="0" anchor="ctr"/>
          <a:lstStyle/>
          <a:p>
            <a:pPr marL="0" indent="0">
              <a:buNone/>
            </a:pPr>
            <a:r>
              <a:rPr lang="en-US" sz="2400" b="1" dirty="0">
                <a:solidFill>
                  <a:srgbClr val="B8863A"/>
                </a:solidFill>
                <a:latin typeface="Cambria" pitchFamily="34" charset="0"/>
                <a:ea typeface="Cambria" pitchFamily="34" charset="-122"/>
                <a:cs typeface="Cambria" pitchFamily="34" charset="-120"/>
              </a:rPr>
              <a:t>2</a:t>
            </a:r>
            <a:endParaRPr lang="en-US" sz="2400" dirty="0"/>
          </a:p>
        </p:txBody>
      </p:sp>
      <p:sp>
        <p:nvSpPr>
          <p:cNvPr id="14" name="Text 12"/>
          <p:cNvSpPr/>
          <p:nvPr/>
        </p:nvSpPr>
        <p:spPr>
          <a:xfrm>
            <a:off x="4480560" y="2331720"/>
            <a:ext cx="3108960" cy="777240"/>
          </a:xfrm>
          <a:prstGeom prst="rect">
            <a:avLst/>
          </a:prstGeom>
          <a:noFill/>
          <a:ln/>
        </p:spPr>
        <p:txBody>
          <a:bodyPr wrap="square" lIns="0" tIns="0" rIns="0" bIns="0" rtlCol="0" anchor="ctr"/>
          <a:lstStyle/>
          <a:p>
            <a:pPr marL="0" indent="0">
              <a:lnSpc>
                <a:spcPts val="1700"/>
              </a:lnSpc>
              <a:buNone/>
            </a:pPr>
            <a:r>
              <a:rPr lang="en-US" sz="1450" b="1" dirty="0">
                <a:solidFill>
                  <a:srgbClr val="111111"/>
                </a:solidFill>
                <a:latin typeface="Cambria" pitchFamily="34" charset="0"/>
                <a:ea typeface="Cambria" pitchFamily="34" charset="-122"/>
                <a:cs typeface="Cambria" pitchFamily="34" charset="-120"/>
              </a:rPr>
              <a:t>Added a calibrated “unsure” verdict</a:t>
            </a:r>
            <a:endParaRPr lang="en-US" sz="1450" dirty="0"/>
          </a:p>
        </p:txBody>
      </p:sp>
      <p:sp>
        <p:nvSpPr>
          <p:cNvPr id="15" name="Text 13"/>
          <p:cNvSpPr/>
          <p:nvPr/>
        </p:nvSpPr>
        <p:spPr>
          <a:xfrm>
            <a:off x="4480560" y="3200400"/>
            <a:ext cx="3108960" cy="1417320"/>
          </a:xfrm>
          <a:prstGeom prst="rect">
            <a:avLst/>
          </a:prstGeom>
          <a:noFill/>
          <a:ln/>
        </p:spPr>
        <p:txBody>
          <a:bodyPr wrap="square" lIns="0" tIns="0" rIns="0" bIns="0" rtlCol="0" anchor="ctr"/>
          <a:lstStyle/>
          <a:p>
            <a:pPr marL="0" indent="0">
              <a:lnSpc>
                <a:spcPts val="1500"/>
              </a:lnSpc>
              <a:buNone/>
            </a:pPr>
            <a:r>
              <a:rPr lang="en-US" sz="1100" dirty="0">
                <a:solidFill>
                  <a:srgbClr val="555555"/>
                </a:solidFill>
                <a:latin typeface="Calibri" pitchFamily="34" charset="0"/>
                <a:ea typeface="Calibri" pitchFamily="34" charset="-122"/>
                <a:cs typeface="Calibri" pitchFamily="34" charset="-120"/>
              </a:rPr>
              <a:t>The model can now say it's genuinely uncertain, instead of being forced into a confident right/wrong answer.</a:t>
            </a:r>
            <a:endParaRPr lang="en-US" sz="1100" dirty="0"/>
          </a:p>
        </p:txBody>
      </p:sp>
      <p:sp>
        <p:nvSpPr>
          <p:cNvPr id="16" name="Shape 14"/>
          <p:cNvSpPr/>
          <p:nvPr/>
        </p:nvSpPr>
        <p:spPr>
          <a:xfrm>
            <a:off x="4480560" y="4709160"/>
            <a:ext cx="310896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17" name="Text 15"/>
          <p:cNvSpPr/>
          <p:nvPr/>
        </p:nvSpPr>
        <p:spPr>
          <a:xfrm>
            <a:off x="4480560" y="4709160"/>
            <a:ext cx="3108960" cy="292608"/>
          </a:xfrm>
          <a:prstGeom prst="rect">
            <a:avLst/>
          </a:prstGeom>
          <a:noFill/>
          <a:ln/>
        </p:spPr>
        <p:txBody>
          <a:bodyPr wrap="square" lIns="0" tIns="0" rIns="0" bIns="0" rtlCol="0" anchor="ctr"/>
          <a:lstStyle/>
          <a:p>
            <a:pPr marL="0" indent="0" algn="ctr">
              <a:buNone/>
            </a:pPr>
            <a:r>
              <a:rPr lang="en-US" sz="800" dirty="0">
                <a:solidFill>
                  <a:srgbClr val="B8863A"/>
                </a:solidFill>
                <a:latin typeface="Courier New" pitchFamily="34" charset="0"/>
                <a:ea typeface="Courier New" pitchFamily="34" charset="-122"/>
                <a:cs typeface="Courier New" pitchFamily="34" charset="-120"/>
              </a:rPr>
              <a:t>AI FAIRNESS</a:t>
            </a:r>
            <a:endParaRPr lang="en-US" sz="800" dirty="0"/>
          </a:p>
        </p:txBody>
      </p:sp>
      <p:sp>
        <p:nvSpPr>
          <p:cNvPr id="18" name="Shape 16"/>
          <p:cNvSpPr/>
          <p:nvPr/>
        </p:nvSpPr>
        <p:spPr>
          <a:xfrm>
            <a:off x="8046720" y="1600200"/>
            <a:ext cx="3566160" cy="3657600"/>
          </a:xfrm>
          <a:prstGeom prst="roundRect">
            <a:avLst>
              <a:gd name="adj" fmla="val 2051"/>
            </a:avLst>
          </a:prstGeom>
          <a:solidFill>
            <a:srgbClr val="FAFAF8"/>
          </a:solidFill>
          <a:ln w="12700">
            <a:solidFill>
              <a:srgbClr val="D6D6D2"/>
            </a:solidFill>
            <a:prstDash val="solid"/>
          </a:ln>
        </p:spPr>
        <p:txBody>
          <a:bodyPr/>
          <a:lstStyle/>
          <a:p>
            <a:endParaRPr lang="en-US"/>
          </a:p>
        </p:txBody>
      </p:sp>
      <p:sp>
        <p:nvSpPr>
          <p:cNvPr id="19" name="Text 17"/>
          <p:cNvSpPr/>
          <p:nvPr/>
        </p:nvSpPr>
        <p:spPr>
          <a:xfrm>
            <a:off x="8275320" y="1783080"/>
            <a:ext cx="731520" cy="548640"/>
          </a:xfrm>
          <a:prstGeom prst="rect">
            <a:avLst/>
          </a:prstGeom>
          <a:noFill/>
          <a:ln/>
        </p:spPr>
        <p:txBody>
          <a:bodyPr wrap="square" lIns="0" tIns="0" rIns="0" bIns="0" rtlCol="0" anchor="ctr"/>
          <a:lstStyle/>
          <a:p>
            <a:pPr marL="0" indent="0">
              <a:buNone/>
            </a:pPr>
            <a:r>
              <a:rPr lang="en-US" sz="2400" b="1" dirty="0">
                <a:solidFill>
                  <a:srgbClr val="B8863A"/>
                </a:solidFill>
                <a:latin typeface="Cambria" pitchFamily="34" charset="0"/>
                <a:ea typeface="Cambria" pitchFamily="34" charset="-122"/>
                <a:cs typeface="Cambria" pitchFamily="34" charset="-120"/>
              </a:rPr>
              <a:t>3</a:t>
            </a:r>
            <a:endParaRPr lang="en-US" sz="2400" dirty="0"/>
          </a:p>
        </p:txBody>
      </p:sp>
      <p:sp>
        <p:nvSpPr>
          <p:cNvPr id="20" name="Text 18"/>
          <p:cNvSpPr/>
          <p:nvPr/>
        </p:nvSpPr>
        <p:spPr>
          <a:xfrm>
            <a:off x="8275320" y="2331720"/>
            <a:ext cx="3108960" cy="777240"/>
          </a:xfrm>
          <a:prstGeom prst="rect">
            <a:avLst/>
          </a:prstGeom>
          <a:noFill/>
          <a:ln/>
        </p:spPr>
        <p:txBody>
          <a:bodyPr wrap="square" lIns="0" tIns="0" rIns="0" bIns="0" rtlCol="0" anchor="ctr"/>
          <a:lstStyle/>
          <a:p>
            <a:pPr marL="0" indent="0">
              <a:lnSpc>
                <a:spcPts val="1700"/>
              </a:lnSpc>
              <a:buNone/>
            </a:pPr>
            <a:r>
              <a:rPr lang="en-US" sz="1450" b="1" dirty="0">
                <a:solidFill>
                  <a:srgbClr val="111111"/>
                </a:solidFill>
                <a:latin typeface="Cambria" pitchFamily="34" charset="0"/>
                <a:ea typeface="Cambria" pitchFamily="34" charset="-122"/>
                <a:cs typeface="Cambria" pitchFamily="34" charset="-120"/>
              </a:rPr>
              <a:t>De-gendered the trusted-contact default</a:t>
            </a:r>
            <a:endParaRPr lang="en-US" sz="1450" dirty="0"/>
          </a:p>
        </p:txBody>
      </p:sp>
      <p:sp>
        <p:nvSpPr>
          <p:cNvPr id="21" name="Text 19"/>
          <p:cNvSpPr/>
          <p:nvPr/>
        </p:nvSpPr>
        <p:spPr>
          <a:xfrm>
            <a:off x="8275320" y="3200400"/>
            <a:ext cx="3108960" cy="1417320"/>
          </a:xfrm>
          <a:prstGeom prst="rect">
            <a:avLst/>
          </a:prstGeom>
          <a:noFill/>
          <a:ln/>
        </p:spPr>
        <p:txBody>
          <a:bodyPr wrap="square" lIns="0" tIns="0" rIns="0" bIns="0" rtlCol="0" anchor="ctr"/>
          <a:lstStyle/>
          <a:p>
            <a:pPr marL="0" indent="0">
              <a:lnSpc>
                <a:spcPts val="1500"/>
              </a:lnSpc>
              <a:buNone/>
            </a:pPr>
            <a:r>
              <a:rPr lang="en-US" sz="1100" dirty="0">
                <a:solidFill>
                  <a:srgbClr val="555555"/>
                </a:solidFill>
                <a:latin typeface="Calibri" pitchFamily="34" charset="0"/>
                <a:ea typeface="Calibri" pitchFamily="34" charset="-122"/>
                <a:cs typeface="Calibri" pitchFamily="34" charset="-120"/>
              </a:rPr>
              <a:t>Dropped the fixed “(Daughter)” label and added an editable “add someone you trust” slot, so caregiving isn't assumed to be one role's job.</a:t>
            </a:r>
            <a:endParaRPr lang="en-US" sz="1100" dirty="0"/>
          </a:p>
        </p:txBody>
      </p:sp>
      <p:sp>
        <p:nvSpPr>
          <p:cNvPr id="22" name="Shape 20"/>
          <p:cNvSpPr/>
          <p:nvPr/>
        </p:nvSpPr>
        <p:spPr>
          <a:xfrm>
            <a:off x="8275320" y="4709160"/>
            <a:ext cx="3108960" cy="292608"/>
          </a:xfrm>
          <a:prstGeom prst="roundRect">
            <a:avLst>
              <a:gd name="adj" fmla="val 50000"/>
            </a:avLst>
          </a:prstGeom>
          <a:solidFill>
            <a:srgbClr val="FFFFFF"/>
          </a:solidFill>
          <a:ln w="12700">
            <a:solidFill>
              <a:srgbClr val="B8863A"/>
            </a:solidFill>
            <a:prstDash val="solid"/>
          </a:ln>
        </p:spPr>
        <p:txBody>
          <a:bodyPr/>
          <a:lstStyle/>
          <a:p>
            <a:endParaRPr lang="en-US"/>
          </a:p>
        </p:txBody>
      </p:sp>
      <p:sp>
        <p:nvSpPr>
          <p:cNvPr id="23" name="Text 21"/>
          <p:cNvSpPr/>
          <p:nvPr/>
        </p:nvSpPr>
        <p:spPr>
          <a:xfrm>
            <a:off x="8275320" y="4709160"/>
            <a:ext cx="3108960" cy="292608"/>
          </a:xfrm>
          <a:prstGeom prst="rect">
            <a:avLst/>
          </a:prstGeom>
          <a:noFill/>
          <a:ln/>
        </p:spPr>
        <p:txBody>
          <a:bodyPr wrap="square" lIns="0" tIns="0" rIns="0" bIns="0" rtlCol="0" anchor="ctr"/>
          <a:lstStyle/>
          <a:p>
            <a:pPr marL="0" indent="0" algn="ctr">
              <a:buNone/>
            </a:pPr>
            <a:r>
              <a:rPr lang="en-US" sz="800" dirty="0">
                <a:solidFill>
                  <a:srgbClr val="B8863A"/>
                </a:solidFill>
                <a:latin typeface="Courier New" pitchFamily="34" charset="0"/>
                <a:ea typeface="Courier New" pitchFamily="34" charset="-122"/>
                <a:cs typeface="Courier New" pitchFamily="34" charset="-120"/>
              </a:rPr>
              <a:t>FEMINIST DESIGN</a:t>
            </a:r>
            <a:endParaRPr lang="en-US" sz="800" dirty="0"/>
          </a:p>
        </p:txBody>
      </p:sp>
      <p:sp>
        <p:nvSpPr>
          <p:cNvPr id="24" name="Text 22"/>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5" name="Text 23"/>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FINAL OUTCOME</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What's built, working, and demoable today</a:t>
            </a:r>
            <a:endParaRPr lang="en-US" sz="2700" dirty="0"/>
          </a:p>
        </p:txBody>
      </p:sp>
      <p:pic>
        <p:nvPicPr>
          <p:cNvPr id="6" name="Image 0" descr="/home/claude/deck/shots/shot_warn_crop.png"/>
          <p:cNvPicPr>
            <a:picLocks noChangeAspect="1"/>
          </p:cNvPicPr>
          <p:nvPr/>
        </p:nvPicPr>
        <p:blipFill>
          <a:blip r:embed="rId3"/>
          <a:stretch>
            <a:fillRect/>
          </a:stretch>
        </p:blipFill>
        <p:spPr>
          <a:xfrm>
            <a:off x="457200" y="1508760"/>
            <a:ext cx="2031062" cy="4480560"/>
          </a:xfrm>
          <a:prstGeom prst="rect">
            <a:avLst/>
          </a:prstGeom>
        </p:spPr>
      </p:pic>
      <p:pic>
        <p:nvPicPr>
          <p:cNvPr id="7" name="Image 1" descr="/home/claude/deck/shots/shot_safe.png"/>
          <p:cNvPicPr>
            <a:picLocks noChangeAspect="1"/>
          </p:cNvPicPr>
          <p:nvPr/>
        </p:nvPicPr>
        <p:blipFill>
          <a:blip r:embed="rId4"/>
          <a:stretch>
            <a:fillRect/>
          </a:stretch>
        </p:blipFill>
        <p:spPr>
          <a:xfrm>
            <a:off x="2606040" y="1508760"/>
            <a:ext cx="2726200" cy="4480560"/>
          </a:xfrm>
          <a:prstGeom prst="rect">
            <a:avLst/>
          </a:prstGeom>
        </p:spPr>
      </p:pic>
      <p:sp>
        <p:nvSpPr>
          <p:cNvPr id="8" name="Text 4"/>
          <p:cNvSpPr/>
          <p:nvPr/>
        </p:nvSpPr>
        <p:spPr>
          <a:xfrm>
            <a:off x="5806440" y="1600200"/>
            <a:ext cx="274320" cy="822960"/>
          </a:xfrm>
          <a:prstGeom prst="rect">
            <a:avLst/>
          </a:prstGeom>
          <a:noFill/>
          <a:ln/>
        </p:spPr>
        <p:txBody>
          <a:bodyPr wrap="square" rtlCol="0" anchor="t"/>
          <a:lstStyle/>
          <a:p>
            <a:pPr marL="0" indent="0">
              <a:buNone/>
            </a:pPr>
            <a:r>
              <a:rPr lang="en-US" sz="1300" b="1" dirty="0">
                <a:solidFill>
                  <a:srgbClr val="B8863A"/>
                </a:solidFill>
                <a:latin typeface="Calibri" pitchFamily="34" charset="0"/>
                <a:ea typeface="Calibri" pitchFamily="34" charset="-122"/>
                <a:cs typeface="Calibri" pitchFamily="34" charset="-120"/>
              </a:rPr>
              <a:t>—</a:t>
            </a:r>
            <a:endParaRPr lang="en-US" sz="1300" dirty="0"/>
          </a:p>
        </p:txBody>
      </p:sp>
      <p:sp>
        <p:nvSpPr>
          <p:cNvPr id="9" name="Text 5"/>
          <p:cNvSpPr/>
          <p:nvPr/>
        </p:nvSpPr>
        <p:spPr>
          <a:xfrm>
            <a:off x="6126480" y="1600200"/>
            <a:ext cx="5623560" cy="868680"/>
          </a:xfrm>
          <a:prstGeom prst="rect">
            <a:avLst/>
          </a:prstGeom>
          <a:noFill/>
          <a:ln/>
        </p:spPr>
        <p:txBody>
          <a:bodyPr wrap="square" rtlCol="0" anchor="t"/>
          <a:lstStyle/>
          <a:p>
            <a:pPr marL="0" indent="0">
              <a:lnSpc>
                <a:spcPts val="1600"/>
              </a:lnSpc>
              <a:buNone/>
            </a:pPr>
            <a:r>
              <a:rPr lang="en-US" sz="1250" dirty="0">
                <a:solidFill>
                  <a:srgbClr val="111111"/>
                </a:solidFill>
                <a:latin typeface="Calibri" pitchFamily="34" charset="0"/>
                <a:ea typeface="Calibri" pitchFamily="34" charset="-122"/>
                <a:cs typeface="Calibri" pitchFamily="34" charset="-120"/>
              </a:rPr>
              <a:t>A working multimodal prototype — text, photo, or voice — wired to a live Gemini backend, not a mockup.</a:t>
            </a:r>
            <a:endParaRPr lang="en-US" sz="1250" dirty="0"/>
          </a:p>
        </p:txBody>
      </p:sp>
      <p:sp>
        <p:nvSpPr>
          <p:cNvPr id="10" name="Text 6"/>
          <p:cNvSpPr/>
          <p:nvPr/>
        </p:nvSpPr>
        <p:spPr>
          <a:xfrm>
            <a:off x="5806440" y="2532888"/>
            <a:ext cx="274320" cy="822960"/>
          </a:xfrm>
          <a:prstGeom prst="rect">
            <a:avLst/>
          </a:prstGeom>
          <a:noFill/>
          <a:ln/>
        </p:spPr>
        <p:txBody>
          <a:bodyPr wrap="square" rtlCol="0" anchor="t"/>
          <a:lstStyle/>
          <a:p>
            <a:pPr marL="0" indent="0">
              <a:buNone/>
            </a:pPr>
            <a:r>
              <a:rPr lang="en-US" sz="1300" b="1" dirty="0">
                <a:solidFill>
                  <a:srgbClr val="B8863A"/>
                </a:solidFill>
                <a:latin typeface="Calibri" pitchFamily="34" charset="0"/>
                <a:ea typeface="Calibri" pitchFamily="34" charset="-122"/>
                <a:cs typeface="Calibri" pitchFamily="34" charset="-120"/>
              </a:rPr>
              <a:t>—</a:t>
            </a:r>
            <a:endParaRPr lang="en-US" sz="1300" dirty="0"/>
          </a:p>
        </p:txBody>
      </p:sp>
      <p:sp>
        <p:nvSpPr>
          <p:cNvPr id="11" name="Text 7"/>
          <p:cNvSpPr/>
          <p:nvPr/>
        </p:nvSpPr>
        <p:spPr>
          <a:xfrm>
            <a:off x="6126480" y="2532888"/>
            <a:ext cx="5623560" cy="868680"/>
          </a:xfrm>
          <a:prstGeom prst="rect">
            <a:avLst/>
          </a:prstGeom>
          <a:noFill/>
          <a:ln/>
        </p:spPr>
        <p:txBody>
          <a:bodyPr wrap="square" rtlCol="0" anchor="t"/>
          <a:lstStyle/>
          <a:p>
            <a:pPr marL="0" indent="0">
              <a:lnSpc>
                <a:spcPts val="1600"/>
              </a:lnSpc>
              <a:buNone/>
            </a:pPr>
            <a:r>
              <a:rPr lang="en-US" sz="1250" dirty="0">
                <a:solidFill>
                  <a:srgbClr val="111111"/>
                </a:solidFill>
                <a:latin typeface="Calibri" pitchFamily="34" charset="0"/>
                <a:ea typeface="Calibri" pitchFamily="34" charset="-122"/>
                <a:cs typeface="Calibri" pitchFamily="34" charset="-120"/>
              </a:rPr>
              <a:t>Three honest verdicts — warning, unsure, safe — each explained in plain language, tactic by tactic.</a:t>
            </a:r>
            <a:endParaRPr lang="en-US" sz="1250" dirty="0"/>
          </a:p>
        </p:txBody>
      </p:sp>
      <p:sp>
        <p:nvSpPr>
          <p:cNvPr id="12" name="Text 8"/>
          <p:cNvSpPr/>
          <p:nvPr/>
        </p:nvSpPr>
        <p:spPr>
          <a:xfrm>
            <a:off x="5806440" y="3465576"/>
            <a:ext cx="274320" cy="822960"/>
          </a:xfrm>
          <a:prstGeom prst="rect">
            <a:avLst/>
          </a:prstGeom>
          <a:noFill/>
          <a:ln/>
        </p:spPr>
        <p:txBody>
          <a:bodyPr wrap="square" rtlCol="0" anchor="t"/>
          <a:lstStyle/>
          <a:p>
            <a:pPr marL="0" indent="0">
              <a:buNone/>
            </a:pPr>
            <a:r>
              <a:rPr lang="en-US" sz="1300" b="1" dirty="0">
                <a:solidFill>
                  <a:srgbClr val="B8863A"/>
                </a:solidFill>
                <a:latin typeface="Calibri" pitchFamily="34" charset="0"/>
                <a:ea typeface="Calibri" pitchFamily="34" charset="-122"/>
                <a:cs typeface="Calibri" pitchFamily="34" charset="-120"/>
              </a:rPr>
              <a:t>—</a:t>
            </a:r>
            <a:endParaRPr lang="en-US" sz="1300" dirty="0"/>
          </a:p>
        </p:txBody>
      </p:sp>
      <p:sp>
        <p:nvSpPr>
          <p:cNvPr id="13" name="Text 9"/>
          <p:cNvSpPr/>
          <p:nvPr/>
        </p:nvSpPr>
        <p:spPr>
          <a:xfrm>
            <a:off x="6126480" y="3465576"/>
            <a:ext cx="5623560" cy="868680"/>
          </a:xfrm>
          <a:prstGeom prst="rect">
            <a:avLst/>
          </a:prstGeom>
          <a:noFill/>
          <a:ln/>
        </p:spPr>
        <p:txBody>
          <a:bodyPr wrap="square" rtlCol="0" anchor="t"/>
          <a:lstStyle/>
          <a:p>
            <a:pPr marL="0" indent="0">
              <a:lnSpc>
                <a:spcPts val="1600"/>
              </a:lnSpc>
              <a:buNone/>
            </a:pPr>
            <a:r>
              <a:rPr lang="en-US" sz="1250" dirty="0">
                <a:solidFill>
                  <a:srgbClr val="111111"/>
                </a:solidFill>
                <a:latin typeface="Calibri" pitchFamily="34" charset="0"/>
                <a:ea typeface="Calibri" pitchFamily="34" charset="-122"/>
                <a:cs typeface="Calibri" pitchFamily="34" charset="-120"/>
              </a:rPr>
              <a:t>A trust layer that tells the truth: what's sent, why, and that it's deleted right after — shown, not just claimed.</a:t>
            </a:r>
            <a:endParaRPr lang="en-US" sz="1250" dirty="0"/>
          </a:p>
        </p:txBody>
      </p:sp>
      <p:sp>
        <p:nvSpPr>
          <p:cNvPr id="14" name="Text 10"/>
          <p:cNvSpPr/>
          <p:nvPr/>
        </p:nvSpPr>
        <p:spPr>
          <a:xfrm>
            <a:off x="5806440" y="4398264"/>
            <a:ext cx="274320" cy="822960"/>
          </a:xfrm>
          <a:prstGeom prst="rect">
            <a:avLst/>
          </a:prstGeom>
          <a:noFill/>
          <a:ln/>
        </p:spPr>
        <p:txBody>
          <a:bodyPr wrap="square" rtlCol="0" anchor="t"/>
          <a:lstStyle/>
          <a:p>
            <a:pPr marL="0" indent="0">
              <a:buNone/>
            </a:pPr>
            <a:r>
              <a:rPr lang="en-US" sz="1300" b="1" dirty="0">
                <a:solidFill>
                  <a:srgbClr val="B8863A"/>
                </a:solidFill>
                <a:latin typeface="Calibri" pitchFamily="34" charset="0"/>
                <a:ea typeface="Calibri" pitchFamily="34" charset="-122"/>
                <a:cs typeface="Calibri" pitchFamily="34" charset="-120"/>
              </a:rPr>
              <a:t>—</a:t>
            </a:r>
            <a:endParaRPr lang="en-US" sz="1300" dirty="0"/>
          </a:p>
        </p:txBody>
      </p:sp>
      <p:sp>
        <p:nvSpPr>
          <p:cNvPr id="15" name="Text 11"/>
          <p:cNvSpPr/>
          <p:nvPr/>
        </p:nvSpPr>
        <p:spPr>
          <a:xfrm>
            <a:off x="6126480" y="4398264"/>
            <a:ext cx="5623560" cy="868680"/>
          </a:xfrm>
          <a:prstGeom prst="rect">
            <a:avLst/>
          </a:prstGeom>
          <a:noFill/>
          <a:ln/>
        </p:spPr>
        <p:txBody>
          <a:bodyPr wrap="square" rtlCol="0" anchor="t"/>
          <a:lstStyle/>
          <a:p>
            <a:pPr marL="0" indent="0">
              <a:lnSpc>
                <a:spcPts val="1600"/>
              </a:lnSpc>
              <a:buNone/>
            </a:pPr>
            <a:r>
              <a:rPr lang="en-US" sz="1250" dirty="0">
                <a:solidFill>
                  <a:srgbClr val="111111"/>
                </a:solidFill>
                <a:latin typeface="Calibri" pitchFamily="34" charset="0"/>
                <a:ea typeface="Calibri" pitchFamily="34" charset="-122"/>
                <a:cs typeface="Calibri" pitchFamily="34" charset="-120"/>
              </a:rPr>
              <a:t>One tap from any result to a real person — chosen contact or PA centre — the AI never has the last word.</a:t>
            </a:r>
            <a:endParaRPr lang="en-US" sz="1250" dirty="0"/>
          </a:p>
        </p:txBody>
      </p:sp>
      <p:sp>
        <p:nvSpPr>
          <p:cNvPr id="16" name="Text 12"/>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17" name="Text 13"/>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DESIGN CONCEPTS ACROSS THE PROJECT</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Theory as a set of decisions, not a slide of definitions</a:t>
            </a:r>
            <a:endParaRPr lang="en-US" sz="2700" dirty="0"/>
          </a:p>
        </p:txBody>
      </p:sp>
      <p:sp>
        <p:nvSpPr>
          <p:cNvPr id="6" name="Shape 4"/>
          <p:cNvSpPr/>
          <p:nvPr/>
        </p:nvSpPr>
        <p:spPr>
          <a:xfrm>
            <a:off x="457200" y="1536192"/>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7" name="Text 5"/>
          <p:cNvSpPr/>
          <p:nvPr/>
        </p:nvSpPr>
        <p:spPr>
          <a:xfrm>
            <a:off x="640080" y="1609344"/>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Privacy &amp; surveillance AI</a:t>
            </a:r>
            <a:endParaRPr lang="en-US" sz="1150" dirty="0"/>
          </a:p>
        </p:txBody>
      </p:sp>
      <p:sp>
        <p:nvSpPr>
          <p:cNvPr id="8" name="Text 6"/>
          <p:cNvSpPr/>
          <p:nvPr/>
        </p:nvSpPr>
        <p:spPr>
          <a:xfrm>
            <a:off x="640080" y="1865376"/>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Rewrote the false “never leaves this screen” claim into an honest data pipeline, shown not just promised.</a:t>
            </a:r>
            <a:endParaRPr lang="en-US" sz="970" dirty="0"/>
          </a:p>
        </p:txBody>
      </p:sp>
      <p:sp>
        <p:nvSpPr>
          <p:cNvPr id="9" name="Shape 7"/>
          <p:cNvSpPr/>
          <p:nvPr/>
        </p:nvSpPr>
        <p:spPr>
          <a:xfrm>
            <a:off x="457200" y="2432304"/>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10" name="Text 8"/>
          <p:cNvSpPr/>
          <p:nvPr/>
        </p:nvSpPr>
        <p:spPr>
          <a:xfrm>
            <a:off x="640080" y="2505456"/>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Data colonialism</a:t>
            </a:r>
            <a:endParaRPr lang="en-US" sz="1150" dirty="0"/>
          </a:p>
        </p:txBody>
      </p:sp>
      <p:sp>
        <p:nvSpPr>
          <p:cNvPr id="11" name="Text 9"/>
          <p:cNvSpPr/>
          <p:nvPr/>
        </p:nvSpPr>
        <p:spPr>
          <a:xfrm>
            <a:off x="640080" y="2761488"/>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Named who's usually extracted from without consent or legibility, and made the audit trail visible instead of buried.</a:t>
            </a:r>
            <a:endParaRPr lang="en-US" sz="970" dirty="0"/>
          </a:p>
        </p:txBody>
      </p:sp>
      <p:sp>
        <p:nvSpPr>
          <p:cNvPr id="12" name="Shape 10"/>
          <p:cNvSpPr/>
          <p:nvPr/>
        </p:nvSpPr>
        <p:spPr>
          <a:xfrm>
            <a:off x="457200" y="3328416"/>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13" name="Text 11"/>
          <p:cNvSpPr/>
          <p:nvPr/>
        </p:nvSpPr>
        <p:spPr>
          <a:xfrm>
            <a:off x="640080" y="3401568"/>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AI fairness</a:t>
            </a:r>
            <a:endParaRPr lang="en-US" sz="1150" dirty="0"/>
          </a:p>
        </p:txBody>
      </p:sp>
      <p:sp>
        <p:nvSpPr>
          <p:cNvPr id="14" name="Text 12"/>
          <p:cNvSpPr/>
          <p:nvPr/>
        </p:nvSpPr>
        <p:spPr>
          <a:xfrm>
            <a:off x="640080" y="3657600"/>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Added a calibrated “unsure” verdict so the tool can't sound more certain than the model actually is.</a:t>
            </a:r>
            <a:endParaRPr lang="en-US" sz="970" dirty="0"/>
          </a:p>
        </p:txBody>
      </p:sp>
      <p:sp>
        <p:nvSpPr>
          <p:cNvPr id="15" name="Shape 13"/>
          <p:cNvSpPr/>
          <p:nvPr/>
        </p:nvSpPr>
        <p:spPr>
          <a:xfrm>
            <a:off x="457200" y="4224528"/>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16" name="Text 14"/>
          <p:cNvSpPr/>
          <p:nvPr/>
        </p:nvSpPr>
        <p:spPr>
          <a:xfrm>
            <a:off x="640080" y="4297680"/>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Adversarial design</a:t>
            </a:r>
            <a:endParaRPr lang="en-US" sz="1150" dirty="0"/>
          </a:p>
        </p:txBody>
      </p:sp>
      <p:sp>
        <p:nvSpPr>
          <p:cNvPr id="17" name="Text 15"/>
          <p:cNvSpPr/>
          <p:nvPr/>
        </p:nvSpPr>
        <p:spPr>
          <a:xfrm>
            <a:off x="640080" y="4553712"/>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Framed detection explicitly against an adversary's own use of AI, not as a neutral filter.</a:t>
            </a:r>
            <a:endParaRPr lang="en-US" sz="970" dirty="0"/>
          </a:p>
        </p:txBody>
      </p:sp>
      <p:sp>
        <p:nvSpPr>
          <p:cNvPr id="18" name="Shape 16"/>
          <p:cNvSpPr/>
          <p:nvPr/>
        </p:nvSpPr>
        <p:spPr>
          <a:xfrm>
            <a:off x="457200" y="5120640"/>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19" name="Text 17"/>
          <p:cNvSpPr/>
          <p:nvPr/>
        </p:nvSpPr>
        <p:spPr>
          <a:xfrm>
            <a:off x="640080" y="5193792"/>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Feminist design</a:t>
            </a:r>
            <a:endParaRPr lang="en-US" sz="1150" dirty="0"/>
          </a:p>
        </p:txBody>
      </p:sp>
      <p:sp>
        <p:nvSpPr>
          <p:cNvPr id="20" name="Text 18"/>
          <p:cNvSpPr/>
          <p:nvPr/>
        </p:nvSpPr>
        <p:spPr>
          <a:xfrm>
            <a:off x="640080" y="5449824"/>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De-gendered the default trusted contact; caregiving infrastructure made visible and reconfigurable.</a:t>
            </a:r>
            <a:endParaRPr lang="en-US" sz="970" dirty="0"/>
          </a:p>
        </p:txBody>
      </p:sp>
      <p:sp>
        <p:nvSpPr>
          <p:cNvPr id="21" name="Shape 19"/>
          <p:cNvSpPr/>
          <p:nvPr/>
        </p:nvSpPr>
        <p:spPr>
          <a:xfrm>
            <a:off x="6126480" y="1536192"/>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22" name="Text 20"/>
          <p:cNvSpPr/>
          <p:nvPr/>
        </p:nvSpPr>
        <p:spPr>
          <a:xfrm>
            <a:off x="6309360" y="1609344"/>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Participatory design</a:t>
            </a:r>
            <a:endParaRPr lang="en-US" sz="1150" dirty="0"/>
          </a:p>
        </p:txBody>
      </p:sp>
      <p:sp>
        <p:nvSpPr>
          <p:cNvPr id="23" name="Text 21"/>
          <p:cNvSpPr/>
          <p:nvPr/>
        </p:nvSpPr>
        <p:spPr>
          <a:xfrm>
            <a:off x="6309360" y="1865376"/>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Named honestly where it's missing — no formal senior-led testing session yet — rather than implying it happened.</a:t>
            </a:r>
            <a:endParaRPr lang="en-US" sz="970" dirty="0"/>
          </a:p>
        </p:txBody>
      </p:sp>
      <p:sp>
        <p:nvSpPr>
          <p:cNvPr id="24" name="Shape 22"/>
          <p:cNvSpPr/>
          <p:nvPr/>
        </p:nvSpPr>
        <p:spPr>
          <a:xfrm>
            <a:off x="6126480" y="2432304"/>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25" name="Text 23"/>
          <p:cNvSpPr/>
          <p:nvPr/>
        </p:nvSpPr>
        <p:spPr>
          <a:xfrm>
            <a:off x="6309360" y="2505456"/>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Speculative design</a:t>
            </a:r>
            <a:endParaRPr lang="en-US" sz="1150" dirty="0"/>
          </a:p>
        </p:txBody>
      </p:sp>
      <p:sp>
        <p:nvSpPr>
          <p:cNvPr id="26" name="Text 24"/>
          <p:cNvSpPr/>
          <p:nvPr/>
        </p:nvSpPr>
        <p:spPr>
          <a:xfrm>
            <a:off x="6309360" y="2761488"/>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The arms-race framing projects forward: what happens as attacker and defender AI both keep improving.</a:t>
            </a:r>
            <a:endParaRPr lang="en-US" sz="970" dirty="0"/>
          </a:p>
        </p:txBody>
      </p:sp>
      <p:sp>
        <p:nvSpPr>
          <p:cNvPr id="27" name="Shape 25"/>
          <p:cNvSpPr/>
          <p:nvPr/>
        </p:nvSpPr>
        <p:spPr>
          <a:xfrm>
            <a:off x="6126480" y="3328416"/>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28" name="Text 26"/>
          <p:cNvSpPr/>
          <p:nvPr/>
        </p:nvSpPr>
        <p:spPr>
          <a:xfrm>
            <a:off x="6309360" y="3401568"/>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Posthuman design</a:t>
            </a:r>
            <a:endParaRPr lang="en-US" sz="1150" dirty="0"/>
          </a:p>
        </p:txBody>
      </p:sp>
      <p:sp>
        <p:nvSpPr>
          <p:cNvPr id="29" name="Text 27"/>
          <p:cNvSpPr/>
          <p:nvPr/>
        </p:nvSpPr>
        <p:spPr>
          <a:xfrm>
            <a:off x="6309360" y="3657600"/>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SG Guard treated as civic infrastructure — a digital priority lane — not a personal gadget an individual must master alone.</a:t>
            </a:r>
            <a:endParaRPr lang="en-US" sz="970" dirty="0"/>
          </a:p>
        </p:txBody>
      </p:sp>
      <p:sp>
        <p:nvSpPr>
          <p:cNvPr id="30" name="Shape 28"/>
          <p:cNvSpPr/>
          <p:nvPr/>
        </p:nvSpPr>
        <p:spPr>
          <a:xfrm>
            <a:off x="6126480" y="4224528"/>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31" name="Text 29"/>
          <p:cNvSpPr/>
          <p:nvPr/>
        </p:nvSpPr>
        <p:spPr>
          <a:xfrm>
            <a:off x="6309360" y="4297680"/>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Work / labour</a:t>
            </a:r>
            <a:endParaRPr lang="en-US" sz="1150" dirty="0"/>
          </a:p>
        </p:txBody>
      </p:sp>
      <p:sp>
        <p:nvSpPr>
          <p:cNvPr id="32" name="Text 30"/>
          <p:cNvSpPr/>
          <p:nvPr/>
        </p:nvSpPr>
        <p:spPr>
          <a:xfrm>
            <a:off x="6309360" y="4553712"/>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Loading and result screens now name the kind of checking happening, instead of hiding it behind “taking a careful look.”</a:t>
            </a:r>
            <a:endParaRPr lang="en-US" sz="970" dirty="0"/>
          </a:p>
        </p:txBody>
      </p:sp>
      <p:sp>
        <p:nvSpPr>
          <p:cNvPr id="33" name="Shape 31"/>
          <p:cNvSpPr/>
          <p:nvPr/>
        </p:nvSpPr>
        <p:spPr>
          <a:xfrm>
            <a:off x="6126480" y="5120640"/>
            <a:ext cx="5394960" cy="804672"/>
          </a:xfrm>
          <a:prstGeom prst="roundRect">
            <a:avLst>
              <a:gd name="adj" fmla="val 6818"/>
            </a:avLst>
          </a:prstGeom>
          <a:solidFill>
            <a:srgbClr val="FAFAF8"/>
          </a:solidFill>
          <a:ln w="9525">
            <a:solidFill>
              <a:srgbClr val="D6D6D2"/>
            </a:solidFill>
            <a:prstDash val="solid"/>
          </a:ln>
        </p:spPr>
        <p:txBody>
          <a:bodyPr/>
          <a:lstStyle/>
          <a:p>
            <a:endParaRPr lang="en-US"/>
          </a:p>
        </p:txBody>
      </p:sp>
      <p:sp>
        <p:nvSpPr>
          <p:cNvPr id="34" name="Text 32"/>
          <p:cNvSpPr/>
          <p:nvPr/>
        </p:nvSpPr>
        <p:spPr>
          <a:xfrm>
            <a:off x="6309360" y="5193792"/>
            <a:ext cx="5029200" cy="256032"/>
          </a:xfrm>
          <a:prstGeom prst="rect">
            <a:avLst/>
          </a:prstGeom>
          <a:noFill/>
          <a:ln/>
        </p:spPr>
        <p:txBody>
          <a:bodyPr wrap="square" lIns="0" tIns="0" rIns="0" bIns="0" rtlCol="0" anchor="ctr"/>
          <a:lstStyle/>
          <a:p>
            <a:pPr marL="0" indent="0">
              <a:buNone/>
            </a:pPr>
            <a:r>
              <a:rPr lang="en-US" sz="1150" b="1" dirty="0">
                <a:solidFill>
                  <a:srgbClr val="B8863A"/>
                </a:solidFill>
                <a:latin typeface="Cambria" pitchFamily="34" charset="0"/>
                <a:ea typeface="Cambria" pitchFamily="34" charset="-122"/>
                <a:cs typeface="Cambria" pitchFamily="34" charset="-120"/>
              </a:rPr>
              <a:t>Creativity</a:t>
            </a:r>
            <a:endParaRPr lang="en-US" sz="1150" dirty="0"/>
          </a:p>
        </p:txBody>
      </p:sp>
      <p:sp>
        <p:nvSpPr>
          <p:cNvPr id="35" name="Text 33"/>
          <p:cNvSpPr/>
          <p:nvPr/>
        </p:nvSpPr>
        <p:spPr>
          <a:xfrm>
            <a:off x="6309360" y="5449824"/>
            <a:ext cx="5029200" cy="438912"/>
          </a:xfrm>
          <a:prstGeom prst="rect">
            <a:avLst/>
          </a:prstGeom>
          <a:noFill/>
          <a:ln/>
        </p:spPr>
        <p:txBody>
          <a:bodyPr wrap="square" lIns="0" tIns="0" rIns="0" bIns="0" rtlCol="0" anchor="ctr"/>
          <a:lstStyle/>
          <a:p>
            <a:pPr marL="0" indent="0">
              <a:lnSpc>
                <a:spcPts val="1200"/>
              </a:lnSpc>
              <a:buNone/>
            </a:pPr>
            <a:r>
              <a:rPr lang="en-US" sz="970" dirty="0">
                <a:solidFill>
                  <a:srgbClr val="555555"/>
                </a:solidFill>
                <a:latin typeface="Calibri" pitchFamily="34" charset="0"/>
                <a:ea typeface="Calibri" pitchFamily="34" charset="-122"/>
                <a:cs typeface="Calibri" pitchFamily="34" charset="-120"/>
              </a:rPr>
              <a:t>A visual identity a scam site couldn't cheaply imitate, rather than the generic trust-badge look scammers already copy.</a:t>
            </a:r>
            <a:endParaRPr lang="en-US" sz="970" dirty="0"/>
          </a:p>
        </p:txBody>
      </p:sp>
      <p:sp>
        <p:nvSpPr>
          <p:cNvPr id="36" name="Text 34"/>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37" name="Text 35"/>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STRENGTHS &amp; LIMITATIONS</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An honest account, not a highlight reel</a:t>
            </a:r>
            <a:endParaRPr lang="en-US" sz="2700" dirty="0"/>
          </a:p>
        </p:txBody>
      </p:sp>
      <p:sp>
        <p:nvSpPr>
          <p:cNvPr id="6" name="Shape 4"/>
          <p:cNvSpPr/>
          <p:nvPr/>
        </p:nvSpPr>
        <p:spPr>
          <a:xfrm>
            <a:off x="457200" y="1554480"/>
            <a:ext cx="5440680" cy="4480560"/>
          </a:xfrm>
          <a:prstGeom prst="roundRect">
            <a:avLst>
              <a:gd name="adj" fmla="val 1633"/>
            </a:avLst>
          </a:prstGeom>
          <a:solidFill>
            <a:srgbClr val="EAF2E9"/>
          </a:solidFill>
          <a:ln/>
        </p:spPr>
        <p:txBody>
          <a:bodyPr/>
          <a:lstStyle/>
          <a:p>
            <a:endParaRPr lang="en-US"/>
          </a:p>
        </p:txBody>
      </p:sp>
      <p:sp>
        <p:nvSpPr>
          <p:cNvPr id="7" name="Text 5"/>
          <p:cNvSpPr/>
          <p:nvPr/>
        </p:nvSpPr>
        <p:spPr>
          <a:xfrm>
            <a:off x="777240" y="1755648"/>
            <a:ext cx="4572000" cy="274320"/>
          </a:xfrm>
          <a:prstGeom prst="rect">
            <a:avLst/>
          </a:prstGeom>
          <a:noFill/>
          <a:ln/>
        </p:spPr>
        <p:txBody>
          <a:bodyPr wrap="square" rtlCol="0" anchor="ctr"/>
          <a:lstStyle/>
          <a:p>
            <a:pPr marL="0" indent="0">
              <a:buNone/>
            </a:pPr>
            <a:r>
              <a:rPr lang="en-US" sz="1100" kern="0" spc="120" dirty="0">
                <a:solidFill>
                  <a:srgbClr val="4F7A55"/>
                </a:solidFill>
                <a:latin typeface="Courier New" pitchFamily="34" charset="0"/>
                <a:ea typeface="Courier New" pitchFamily="34" charset="-122"/>
                <a:cs typeface="Courier New" pitchFamily="34" charset="-120"/>
              </a:rPr>
              <a:t>STRENGTHS</a:t>
            </a:r>
            <a:endParaRPr lang="en-US" sz="1100" dirty="0"/>
          </a:p>
        </p:txBody>
      </p:sp>
      <p:sp>
        <p:nvSpPr>
          <p:cNvPr id="8" name="Text 6"/>
          <p:cNvSpPr/>
          <p:nvPr/>
        </p:nvSpPr>
        <p:spPr>
          <a:xfrm>
            <a:off x="777240" y="2148840"/>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A data pipeline that's honestly described, end to end — front end matches back end reality</a:t>
            </a:r>
            <a:endParaRPr lang="en-US" sz="1150" dirty="0"/>
          </a:p>
        </p:txBody>
      </p:sp>
      <p:sp>
        <p:nvSpPr>
          <p:cNvPr id="9" name="Text 7"/>
          <p:cNvSpPr/>
          <p:nvPr/>
        </p:nvSpPr>
        <p:spPr>
          <a:xfrm>
            <a:off x="777240" y="2898648"/>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Calibrated uncertainty instead of false binary confidence</a:t>
            </a:r>
            <a:endParaRPr lang="en-US" sz="1150" dirty="0"/>
          </a:p>
        </p:txBody>
      </p:sp>
      <p:sp>
        <p:nvSpPr>
          <p:cNvPr id="10" name="Text 8"/>
          <p:cNvSpPr/>
          <p:nvPr/>
        </p:nvSpPr>
        <p:spPr>
          <a:xfrm>
            <a:off x="777240" y="3648456"/>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True multimodal accessibility — type, photo, or voice, no single required literacy</a:t>
            </a:r>
            <a:endParaRPr lang="en-US" sz="1150" dirty="0"/>
          </a:p>
        </p:txBody>
      </p:sp>
      <p:sp>
        <p:nvSpPr>
          <p:cNvPr id="11" name="Text 9"/>
          <p:cNvSpPr/>
          <p:nvPr/>
        </p:nvSpPr>
        <p:spPr>
          <a:xfrm>
            <a:off x="777240" y="4398264"/>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A one-tap human handoff on every result — the AI is a second opinion, never the final word</a:t>
            </a:r>
            <a:endParaRPr lang="en-US" sz="1150" dirty="0"/>
          </a:p>
        </p:txBody>
      </p:sp>
      <p:sp>
        <p:nvSpPr>
          <p:cNvPr id="12" name="Text 10"/>
          <p:cNvSpPr/>
          <p:nvPr/>
        </p:nvSpPr>
        <p:spPr>
          <a:xfrm>
            <a:off x="777240" y="5148072"/>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A visual identity distinctive enough to resist cheap imitation by scam sites</a:t>
            </a:r>
            <a:endParaRPr lang="en-US" sz="1150" dirty="0"/>
          </a:p>
        </p:txBody>
      </p:sp>
      <p:sp>
        <p:nvSpPr>
          <p:cNvPr id="13" name="Shape 11"/>
          <p:cNvSpPr/>
          <p:nvPr/>
        </p:nvSpPr>
        <p:spPr>
          <a:xfrm>
            <a:off x="6263640" y="1554480"/>
            <a:ext cx="5440680" cy="4480560"/>
          </a:xfrm>
          <a:prstGeom prst="roundRect">
            <a:avLst>
              <a:gd name="adj" fmla="val 1633"/>
            </a:avLst>
          </a:prstGeom>
          <a:solidFill>
            <a:srgbClr val="FBEEE9"/>
          </a:solidFill>
          <a:ln/>
        </p:spPr>
        <p:txBody>
          <a:bodyPr/>
          <a:lstStyle/>
          <a:p>
            <a:endParaRPr lang="en-US"/>
          </a:p>
        </p:txBody>
      </p:sp>
      <p:sp>
        <p:nvSpPr>
          <p:cNvPr id="14" name="Text 12"/>
          <p:cNvSpPr/>
          <p:nvPr/>
        </p:nvSpPr>
        <p:spPr>
          <a:xfrm>
            <a:off x="6583680" y="1755648"/>
            <a:ext cx="4572000" cy="274320"/>
          </a:xfrm>
          <a:prstGeom prst="rect">
            <a:avLst/>
          </a:prstGeom>
          <a:noFill/>
          <a:ln/>
        </p:spPr>
        <p:txBody>
          <a:bodyPr wrap="square" rtlCol="0" anchor="ctr"/>
          <a:lstStyle/>
          <a:p>
            <a:pPr marL="0" indent="0">
              <a:buNone/>
            </a:pPr>
            <a:r>
              <a:rPr lang="en-US" sz="1100" kern="0" spc="120" dirty="0">
                <a:solidFill>
                  <a:srgbClr val="B8563F"/>
                </a:solidFill>
                <a:latin typeface="Courier New" pitchFamily="34" charset="0"/>
                <a:ea typeface="Courier New" pitchFamily="34" charset="-122"/>
                <a:cs typeface="Courier New" pitchFamily="34" charset="-120"/>
              </a:rPr>
              <a:t>LIMITATIONS</a:t>
            </a:r>
            <a:endParaRPr lang="en-US" sz="1100" dirty="0"/>
          </a:p>
        </p:txBody>
      </p:sp>
      <p:sp>
        <p:nvSpPr>
          <p:cNvPr id="15" name="Text 13"/>
          <p:cNvSpPr/>
          <p:nvPr/>
        </p:nvSpPr>
        <p:spPr>
          <a:xfrm>
            <a:off x="6583680" y="2148840"/>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No formal participatory testing with seniors yet — the biggest open gap</a:t>
            </a:r>
            <a:endParaRPr lang="en-US" sz="1150" dirty="0"/>
          </a:p>
        </p:txBody>
      </p:sp>
      <p:sp>
        <p:nvSpPr>
          <p:cNvPr id="16" name="Text 14"/>
          <p:cNvSpPr/>
          <p:nvPr/>
        </p:nvSpPr>
        <p:spPr>
          <a:xfrm>
            <a:off x="6583680" y="2898648"/>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The arms race is asymmetric and ongoing — no detector “wins” permanently</a:t>
            </a:r>
            <a:endParaRPr lang="en-US" sz="1150" dirty="0"/>
          </a:p>
        </p:txBody>
      </p:sp>
      <p:sp>
        <p:nvSpPr>
          <p:cNvPr id="17" name="Text 15"/>
          <p:cNvSpPr/>
          <p:nvPr/>
        </p:nvSpPr>
        <p:spPr>
          <a:xfrm>
            <a:off x="6583680" y="3648456"/>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“Add someone you trust” is a placeholder, not a working contacts feature yet</a:t>
            </a:r>
            <a:endParaRPr lang="en-US" sz="1150" dirty="0"/>
          </a:p>
        </p:txBody>
      </p:sp>
      <p:sp>
        <p:nvSpPr>
          <p:cNvPr id="18" name="Text 16"/>
          <p:cNvSpPr/>
          <p:nvPr/>
        </p:nvSpPr>
        <p:spPr>
          <a:xfrm>
            <a:off x="6583680" y="4398264"/>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English-only — no Mandarin, Malay, Tamil, or dialect support yet</a:t>
            </a:r>
            <a:endParaRPr lang="en-US" sz="1150" dirty="0"/>
          </a:p>
        </p:txBody>
      </p:sp>
      <p:sp>
        <p:nvSpPr>
          <p:cNvPr id="19" name="Text 17"/>
          <p:cNvSpPr/>
          <p:nvPr/>
        </p:nvSpPr>
        <p:spPr>
          <a:xfrm>
            <a:off x="6583680" y="5148072"/>
            <a:ext cx="4846320" cy="713232"/>
          </a:xfrm>
          <a:prstGeom prst="rect">
            <a:avLst/>
          </a:prstGeom>
          <a:noFill/>
          <a:ln/>
        </p:spPr>
        <p:txBody>
          <a:bodyPr wrap="square" rtlCol="0" anchor="t"/>
          <a:lstStyle/>
          <a:p>
            <a:pPr marL="0" indent="0">
              <a:lnSpc>
                <a:spcPts val="1500"/>
              </a:lnSpc>
              <a:buNone/>
            </a:pPr>
            <a:r>
              <a:rPr lang="en-US" sz="1150" dirty="0">
                <a:solidFill>
                  <a:srgbClr val="111111"/>
                </a:solidFill>
                <a:latin typeface="Calibri" pitchFamily="34" charset="0"/>
                <a:ea typeface="Calibri" pitchFamily="34" charset="-122"/>
                <a:cs typeface="Calibri" pitchFamily="34" charset="-120"/>
              </a:rPr>
              <a:t>—  Gemini API cost and latency at real scale are still unvalidated</a:t>
            </a:r>
            <a:endParaRPr lang="en-US" sz="1150" dirty="0"/>
          </a:p>
        </p:txBody>
      </p:sp>
      <p:sp>
        <p:nvSpPr>
          <p:cNvPr id="20" name="Text 18"/>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21" name="Text 19"/>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roundRect">
            <a:avLst>
              <a:gd name="adj" fmla="val 16000"/>
            </a:avLst>
          </a:prstGeom>
          <a:solidFill>
            <a:srgbClr val="111111"/>
          </a:solidFill>
          <a:ln/>
        </p:spPr>
        <p:txBody>
          <a:bodyPr/>
          <a:lstStyle/>
          <a:p>
            <a:endParaRPr lang="en-US"/>
          </a:p>
        </p:txBody>
      </p:sp>
      <p:sp>
        <p:nvSpPr>
          <p:cNvPr id="3" name="Text 1"/>
          <p:cNvSpPr/>
          <p:nvPr/>
        </p:nvSpPr>
        <p:spPr>
          <a:xfrm>
            <a:off x="457200" y="411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4" name="Text 2"/>
          <p:cNvSpPr/>
          <p:nvPr/>
        </p:nvSpPr>
        <p:spPr>
          <a:xfrm>
            <a:off x="1051560" y="411480"/>
            <a:ext cx="8229600" cy="256032"/>
          </a:xfrm>
          <a:prstGeom prst="rect">
            <a:avLst/>
          </a:prstGeom>
          <a:noFill/>
          <a:ln/>
        </p:spPr>
        <p:txBody>
          <a:bodyPr wrap="square" lIns="0" tIns="0" rIns="0" bIns="0" rtlCol="0" anchor="ctr"/>
          <a:lstStyle/>
          <a:p>
            <a:pPr marL="0" indent="0">
              <a:buNone/>
            </a:pPr>
            <a:r>
              <a:rPr lang="en-US" sz="1100" kern="0" spc="150" dirty="0">
                <a:solidFill>
                  <a:srgbClr val="B8863A"/>
                </a:solidFill>
                <a:latin typeface="Courier New" pitchFamily="34" charset="0"/>
                <a:ea typeface="Courier New" pitchFamily="34" charset="-122"/>
                <a:cs typeface="Courier New" pitchFamily="34" charset="-120"/>
              </a:rPr>
              <a:t>WHAT'S NEXT</a:t>
            </a:r>
            <a:endParaRPr lang="en-US" sz="1100" dirty="0"/>
          </a:p>
        </p:txBody>
      </p:sp>
      <p:sp>
        <p:nvSpPr>
          <p:cNvPr id="5" name="Text 3"/>
          <p:cNvSpPr/>
          <p:nvPr/>
        </p:nvSpPr>
        <p:spPr>
          <a:xfrm>
            <a:off x="1051560" y="658368"/>
            <a:ext cx="10058400" cy="594360"/>
          </a:xfrm>
          <a:prstGeom prst="rect">
            <a:avLst/>
          </a:prstGeom>
          <a:noFill/>
          <a:ln/>
        </p:spPr>
        <p:txBody>
          <a:bodyPr wrap="square" lIns="0" tIns="0" rIns="0" bIns="0" rtlCol="0" anchor="ctr"/>
          <a:lstStyle/>
          <a:p>
            <a:pPr marL="0" indent="0">
              <a:buNone/>
            </a:pPr>
            <a:r>
              <a:rPr lang="en-US" sz="2700" b="1" dirty="0">
                <a:solidFill>
                  <a:srgbClr val="111111"/>
                </a:solidFill>
                <a:latin typeface="Cambria" pitchFamily="34" charset="0"/>
                <a:ea typeface="Cambria" pitchFamily="34" charset="-122"/>
                <a:cs typeface="Cambria" pitchFamily="34" charset="-120"/>
              </a:rPr>
              <a:t>From prototype to evaluated design</a:t>
            </a:r>
            <a:endParaRPr lang="en-US" sz="2700" dirty="0"/>
          </a:p>
        </p:txBody>
      </p:sp>
      <p:sp>
        <p:nvSpPr>
          <p:cNvPr id="6" name="Shape 4"/>
          <p:cNvSpPr/>
          <p:nvPr/>
        </p:nvSpPr>
        <p:spPr>
          <a:xfrm>
            <a:off x="457200" y="1691640"/>
            <a:ext cx="3566160" cy="3291840"/>
          </a:xfrm>
          <a:prstGeom prst="roundRect">
            <a:avLst>
              <a:gd name="adj" fmla="val 2222"/>
            </a:avLst>
          </a:prstGeom>
          <a:solidFill>
            <a:srgbClr val="FAFAF8"/>
          </a:solidFill>
          <a:ln w="12700">
            <a:solidFill>
              <a:srgbClr val="D6D6D2"/>
            </a:solidFill>
            <a:prstDash val="solid"/>
          </a:ln>
        </p:spPr>
        <p:txBody>
          <a:bodyPr/>
          <a:lstStyle/>
          <a:p>
            <a:endParaRPr lang="en-US"/>
          </a:p>
        </p:txBody>
      </p:sp>
      <p:sp>
        <p:nvSpPr>
          <p:cNvPr id="7" name="Text 5"/>
          <p:cNvSpPr/>
          <p:nvPr/>
        </p:nvSpPr>
        <p:spPr>
          <a:xfrm>
            <a:off x="685800" y="1874520"/>
            <a:ext cx="3108960" cy="274320"/>
          </a:xfrm>
          <a:prstGeom prst="rect">
            <a:avLst/>
          </a:prstGeom>
          <a:noFill/>
          <a:ln/>
        </p:spPr>
        <p:txBody>
          <a:bodyPr wrap="square" rtlCol="0" anchor="ctr"/>
          <a:lstStyle/>
          <a:p>
            <a:pPr marL="0" indent="0">
              <a:buNone/>
            </a:pPr>
            <a:r>
              <a:rPr lang="en-US" sz="1000" kern="0" spc="100" dirty="0">
                <a:solidFill>
                  <a:srgbClr val="B8863A"/>
                </a:solidFill>
                <a:latin typeface="Courier New" pitchFamily="34" charset="0"/>
                <a:ea typeface="Courier New" pitchFamily="34" charset="-122"/>
                <a:cs typeface="Courier New" pitchFamily="34" charset="-120"/>
              </a:rPr>
              <a:t>PHASE 3</a:t>
            </a:r>
            <a:endParaRPr lang="en-US" sz="1000" dirty="0"/>
          </a:p>
        </p:txBody>
      </p:sp>
      <p:sp>
        <p:nvSpPr>
          <p:cNvPr id="8" name="Text 6"/>
          <p:cNvSpPr/>
          <p:nvPr/>
        </p:nvSpPr>
        <p:spPr>
          <a:xfrm>
            <a:off x="685800" y="2176272"/>
            <a:ext cx="3108960" cy="594360"/>
          </a:xfrm>
          <a:prstGeom prst="rect">
            <a:avLst/>
          </a:prstGeom>
          <a:noFill/>
          <a:ln/>
        </p:spPr>
        <p:txBody>
          <a:bodyPr wrap="square" lIns="0" tIns="0" rIns="0" bIns="0" rtlCol="0" anchor="ctr"/>
          <a:lstStyle/>
          <a:p>
            <a:pPr marL="0" indent="0">
              <a:lnSpc>
                <a:spcPts val="1800"/>
              </a:lnSpc>
              <a:buNone/>
            </a:pPr>
            <a:r>
              <a:rPr lang="en-US" sz="1550" b="1" dirty="0">
                <a:solidFill>
                  <a:srgbClr val="111111"/>
                </a:solidFill>
                <a:latin typeface="Cambria" pitchFamily="34" charset="0"/>
                <a:ea typeface="Cambria" pitchFamily="34" charset="-122"/>
                <a:cs typeface="Cambria" pitchFamily="34" charset="-120"/>
              </a:rPr>
              <a:t>Participatory testing</a:t>
            </a:r>
            <a:endParaRPr lang="en-US" sz="1550" dirty="0"/>
          </a:p>
        </p:txBody>
      </p:sp>
      <p:sp>
        <p:nvSpPr>
          <p:cNvPr id="9" name="Text 7"/>
          <p:cNvSpPr/>
          <p:nvPr/>
        </p:nvSpPr>
        <p:spPr>
          <a:xfrm>
            <a:off x="685800" y="2788920"/>
            <a:ext cx="3108960" cy="2103120"/>
          </a:xfrm>
          <a:prstGeom prst="rect">
            <a:avLst/>
          </a:prstGeom>
          <a:noFill/>
          <a:ln/>
        </p:spPr>
        <p:txBody>
          <a:bodyPr wrap="square" lIns="0" tIns="0" rIns="0" bIns="0" rtlCol="0" anchor="ctr"/>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Seniors at PA Active Ageing Centres critique the live prototype directly, closing the gap named on the last slide.</a:t>
            </a:r>
            <a:endParaRPr lang="en-US" sz="1150" dirty="0"/>
          </a:p>
        </p:txBody>
      </p:sp>
      <p:sp>
        <p:nvSpPr>
          <p:cNvPr id="10" name="Shape 8"/>
          <p:cNvSpPr/>
          <p:nvPr/>
        </p:nvSpPr>
        <p:spPr>
          <a:xfrm>
            <a:off x="4251960" y="1691640"/>
            <a:ext cx="3566160" cy="3291840"/>
          </a:xfrm>
          <a:prstGeom prst="roundRect">
            <a:avLst>
              <a:gd name="adj" fmla="val 2222"/>
            </a:avLst>
          </a:prstGeom>
          <a:solidFill>
            <a:srgbClr val="FAFAF8"/>
          </a:solidFill>
          <a:ln w="12700">
            <a:solidFill>
              <a:srgbClr val="D6D6D2"/>
            </a:solidFill>
            <a:prstDash val="solid"/>
          </a:ln>
        </p:spPr>
        <p:txBody>
          <a:bodyPr/>
          <a:lstStyle/>
          <a:p>
            <a:endParaRPr lang="en-US"/>
          </a:p>
        </p:txBody>
      </p:sp>
      <p:sp>
        <p:nvSpPr>
          <p:cNvPr id="11" name="Text 9"/>
          <p:cNvSpPr/>
          <p:nvPr/>
        </p:nvSpPr>
        <p:spPr>
          <a:xfrm>
            <a:off x="4480560" y="1874520"/>
            <a:ext cx="3108960" cy="274320"/>
          </a:xfrm>
          <a:prstGeom prst="rect">
            <a:avLst/>
          </a:prstGeom>
          <a:noFill/>
          <a:ln/>
        </p:spPr>
        <p:txBody>
          <a:bodyPr wrap="square" rtlCol="0" anchor="ctr"/>
          <a:lstStyle/>
          <a:p>
            <a:pPr marL="0" indent="0">
              <a:buNone/>
            </a:pPr>
            <a:r>
              <a:rPr lang="en-US" sz="1000" kern="0" spc="100" dirty="0">
                <a:solidFill>
                  <a:srgbClr val="B8863A"/>
                </a:solidFill>
                <a:latin typeface="Courier New" pitchFamily="34" charset="0"/>
                <a:ea typeface="Courier New" pitchFamily="34" charset="-122"/>
                <a:cs typeface="Courier New" pitchFamily="34" charset="-120"/>
              </a:rPr>
              <a:t>PHASE 4</a:t>
            </a:r>
            <a:endParaRPr lang="en-US" sz="1000" dirty="0"/>
          </a:p>
        </p:txBody>
      </p:sp>
      <p:sp>
        <p:nvSpPr>
          <p:cNvPr id="12" name="Text 10"/>
          <p:cNvSpPr/>
          <p:nvPr/>
        </p:nvSpPr>
        <p:spPr>
          <a:xfrm>
            <a:off x="4480560" y="2176272"/>
            <a:ext cx="3108960" cy="594360"/>
          </a:xfrm>
          <a:prstGeom prst="rect">
            <a:avLst/>
          </a:prstGeom>
          <a:noFill/>
          <a:ln/>
        </p:spPr>
        <p:txBody>
          <a:bodyPr wrap="square" lIns="0" tIns="0" rIns="0" bIns="0" rtlCol="0" anchor="ctr"/>
          <a:lstStyle/>
          <a:p>
            <a:pPr marL="0" indent="0">
              <a:lnSpc>
                <a:spcPts val="1800"/>
              </a:lnSpc>
              <a:buNone/>
            </a:pPr>
            <a:r>
              <a:rPr lang="en-US" sz="1550" b="1" dirty="0">
                <a:solidFill>
                  <a:srgbClr val="111111"/>
                </a:solidFill>
                <a:latin typeface="Cambria" pitchFamily="34" charset="0"/>
                <a:ea typeface="Cambria" pitchFamily="34" charset="-122"/>
                <a:cs typeface="Cambria" pitchFamily="34" charset="-120"/>
              </a:rPr>
              <a:t>Evaluation &amp; refinement</a:t>
            </a:r>
            <a:endParaRPr lang="en-US" sz="1550" dirty="0"/>
          </a:p>
        </p:txBody>
      </p:sp>
      <p:sp>
        <p:nvSpPr>
          <p:cNvPr id="13" name="Text 11"/>
          <p:cNvSpPr/>
          <p:nvPr/>
        </p:nvSpPr>
        <p:spPr>
          <a:xfrm>
            <a:off x="4480560" y="2788920"/>
            <a:ext cx="3108960" cy="2103120"/>
          </a:xfrm>
          <a:prstGeom prst="rect">
            <a:avLst/>
          </a:prstGeom>
          <a:noFill/>
          <a:ln/>
        </p:spPr>
        <p:txBody>
          <a:bodyPr wrap="square" lIns="0" tIns="0" rIns="0" bIns="0" rtlCol="0" anchor="ctr"/>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Detection accuracy and latency benchmarks, paired with usability testing, feeding back into the design.</a:t>
            </a:r>
            <a:endParaRPr lang="en-US" sz="1150" dirty="0"/>
          </a:p>
        </p:txBody>
      </p:sp>
      <p:sp>
        <p:nvSpPr>
          <p:cNvPr id="14" name="Shape 12"/>
          <p:cNvSpPr/>
          <p:nvPr/>
        </p:nvSpPr>
        <p:spPr>
          <a:xfrm>
            <a:off x="8046720" y="1691640"/>
            <a:ext cx="3566160" cy="3291840"/>
          </a:xfrm>
          <a:prstGeom prst="roundRect">
            <a:avLst>
              <a:gd name="adj" fmla="val 2222"/>
            </a:avLst>
          </a:prstGeom>
          <a:solidFill>
            <a:srgbClr val="FAFAF8"/>
          </a:solidFill>
          <a:ln w="12700">
            <a:solidFill>
              <a:srgbClr val="D6D6D2"/>
            </a:solidFill>
            <a:prstDash val="solid"/>
          </a:ln>
        </p:spPr>
        <p:txBody>
          <a:bodyPr/>
          <a:lstStyle/>
          <a:p>
            <a:endParaRPr lang="en-US"/>
          </a:p>
        </p:txBody>
      </p:sp>
      <p:sp>
        <p:nvSpPr>
          <p:cNvPr id="15" name="Text 13"/>
          <p:cNvSpPr/>
          <p:nvPr/>
        </p:nvSpPr>
        <p:spPr>
          <a:xfrm>
            <a:off x="8275320" y="1874520"/>
            <a:ext cx="3108960" cy="274320"/>
          </a:xfrm>
          <a:prstGeom prst="rect">
            <a:avLst/>
          </a:prstGeom>
          <a:noFill/>
          <a:ln/>
        </p:spPr>
        <p:txBody>
          <a:bodyPr wrap="square" rtlCol="0" anchor="ctr"/>
          <a:lstStyle/>
          <a:p>
            <a:pPr marL="0" indent="0">
              <a:buNone/>
            </a:pPr>
            <a:r>
              <a:rPr lang="en-US" sz="1000" kern="0" spc="100" dirty="0">
                <a:solidFill>
                  <a:srgbClr val="B8863A"/>
                </a:solidFill>
                <a:latin typeface="Courier New" pitchFamily="34" charset="0"/>
                <a:ea typeface="Courier New" pitchFamily="34" charset="-122"/>
                <a:cs typeface="Courier New" pitchFamily="34" charset="-120"/>
              </a:rPr>
              <a:t>ONGOING</a:t>
            </a:r>
            <a:endParaRPr lang="en-US" sz="1000" dirty="0"/>
          </a:p>
        </p:txBody>
      </p:sp>
      <p:sp>
        <p:nvSpPr>
          <p:cNvPr id="16" name="Text 14"/>
          <p:cNvSpPr/>
          <p:nvPr/>
        </p:nvSpPr>
        <p:spPr>
          <a:xfrm>
            <a:off x="8275320" y="2176272"/>
            <a:ext cx="3108960" cy="594360"/>
          </a:xfrm>
          <a:prstGeom prst="rect">
            <a:avLst/>
          </a:prstGeom>
          <a:noFill/>
          <a:ln/>
        </p:spPr>
        <p:txBody>
          <a:bodyPr wrap="square" lIns="0" tIns="0" rIns="0" bIns="0" rtlCol="0" anchor="ctr"/>
          <a:lstStyle/>
          <a:p>
            <a:pPr marL="0" indent="0">
              <a:lnSpc>
                <a:spcPts val="1800"/>
              </a:lnSpc>
              <a:buNone/>
            </a:pPr>
            <a:r>
              <a:rPr lang="en-US" sz="1550" b="1" dirty="0">
                <a:solidFill>
                  <a:srgbClr val="111111"/>
                </a:solidFill>
                <a:latin typeface="Cambria" pitchFamily="34" charset="0"/>
                <a:ea typeface="Cambria" pitchFamily="34" charset="-122"/>
                <a:cs typeface="Cambria" pitchFamily="34" charset="-120"/>
              </a:rPr>
              <a:t>Prompt &amp; schema refinement</a:t>
            </a:r>
            <a:endParaRPr lang="en-US" sz="1550" dirty="0"/>
          </a:p>
        </p:txBody>
      </p:sp>
      <p:sp>
        <p:nvSpPr>
          <p:cNvPr id="17" name="Text 15"/>
          <p:cNvSpPr/>
          <p:nvPr/>
        </p:nvSpPr>
        <p:spPr>
          <a:xfrm>
            <a:off x="8275320" y="2788920"/>
            <a:ext cx="3108960" cy="2103120"/>
          </a:xfrm>
          <a:prstGeom prst="rect">
            <a:avLst/>
          </a:prstGeom>
          <a:noFill/>
          <a:ln/>
        </p:spPr>
        <p:txBody>
          <a:bodyPr wrap="square" lIns="0" tIns="0" rIns="0" bIns="0" rtlCol="0" anchor="ctr"/>
          <a:lstStyle/>
          <a:p>
            <a:pPr marL="0" indent="0">
              <a:lnSpc>
                <a:spcPts val="1500"/>
              </a:lnSpc>
              <a:buNone/>
            </a:pPr>
            <a:r>
              <a:rPr lang="en-US" sz="1150" dirty="0">
                <a:solidFill>
                  <a:srgbClr val="555555"/>
                </a:solidFill>
                <a:latin typeface="Calibri" pitchFamily="34" charset="0"/>
                <a:ea typeface="Calibri" pitchFamily="34" charset="-122"/>
                <a:cs typeface="Calibri" pitchFamily="34" charset="-120"/>
              </a:rPr>
              <a:t>Iterating the system prompt and verdict calibration against a growing corpus of real scam-message patterns — because the other side keeps iterating too.</a:t>
            </a:r>
            <a:endParaRPr lang="en-US" sz="1150" dirty="0"/>
          </a:p>
        </p:txBody>
      </p:sp>
      <p:sp>
        <p:nvSpPr>
          <p:cNvPr id="18" name="Text 16"/>
          <p:cNvSpPr/>
          <p:nvPr/>
        </p:nvSpPr>
        <p:spPr>
          <a:xfrm>
            <a:off x="457200" y="6473952"/>
            <a:ext cx="5486400" cy="274320"/>
          </a:xfrm>
          <a:prstGeom prst="rect">
            <a:avLst/>
          </a:prstGeom>
          <a:noFill/>
          <a:ln/>
        </p:spPr>
        <p:txBody>
          <a:bodyPr wrap="square" rtlCol="0" anchor="ctr"/>
          <a:lstStyle/>
          <a:p>
            <a:pPr marL="0" indent="0">
              <a:buNone/>
            </a:pPr>
            <a:r>
              <a:rPr lang="en-US" sz="800" kern="0" spc="100" dirty="0">
                <a:solidFill>
                  <a:srgbClr val="9A9A9A"/>
                </a:solidFill>
                <a:latin typeface="Courier New" pitchFamily="34" charset="0"/>
                <a:ea typeface="Courier New" pitchFamily="34" charset="-122"/>
                <a:cs typeface="Courier New" pitchFamily="34" charset="-120"/>
              </a:rPr>
              <a:t>SG GUARD — FINAL REVIEW</a:t>
            </a:r>
            <a:endParaRPr lang="en-US" sz="800" dirty="0"/>
          </a:p>
        </p:txBody>
      </p:sp>
      <p:sp>
        <p:nvSpPr>
          <p:cNvPr id="19" name="Text 17"/>
          <p:cNvSpPr/>
          <p:nvPr/>
        </p:nvSpPr>
        <p:spPr>
          <a:xfrm>
            <a:off x="11277295" y="6473952"/>
            <a:ext cx="457200" cy="274320"/>
          </a:xfrm>
          <a:prstGeom prst="rect">
            <a:avLst/>
          </a:prstGeom>
          <a:noFill/>
          <a:ln/>
        </p:spPr>
        <p:txBody>
          <a:bodyPr wrap="square" rtlCol="0" anchor="ctr"/>
          <a:lstStyle/>
          <a:p>
            <a:pPr marL="0" indent="0" algn="r">
              <a:buNone/>
            </a:pPr>
            <a:r>
              <a:rPr lang="en-US" sz="800" dirty="0">
                <a:solidFill>
                  <a:srgbClr val="9A9A9A"/>
                </a:solidFill>
                <a:latin typeface="Courier New" pitchFamily="34" charset="0"/>
                <a:ea typeface="Courier New" pitchFamily="34" charset="-122"/>
                <a:cs typeface="Courier New" pitchFamily="34" charset="-120"/>
              </a:rPr>
              <a:t>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822960" y="2286000"/>
            <a:ext cx="5486400" cy="320040"/>
          </a:xfrm>
          <a:prstGeom prst="rect">
            <a:avLst/>
          </a:prstGeom>
          <a:noFill/>
          <a:ln/>
        </p:spPr>
        <p:txBody>
          <a:bodyPr wrap="square" rtlCol="0" anchor="ctr"/>
          <a:lstStyle/>
          <a:p>
            <a:pPr marL="0" indent="0">
              <a:buNone/>
            </a:pPr>
            <a:r>
              <a:rPr lang="en-US" sz="1200" kern="0" spc="200" dirty="0">
                <a:solidFill>
                  <a:srgbClr val="B8863A"/>
                </a:solidFill>
                <a:latin typeface="Courier New" pitchFamily="34" charset="0"/>
                <a:ea typeface="Courier New" pitchFamily="34" charset="-122"/>
                <a:cs typeface="Courier New" pitchFamily="34" charset="-120"/>
              </a:rPr>
              <a:t>FINAL REVIEW</a:t>
            </a:r>
            <a:endParaRPr lang="en-US" sz="1200" dirty="0"/>
          </a:p>
        </p:txBody>
      </p:sp>
      <p:sp>
        <p:nvSpPr>
          <p:cNvPr id="3" name="Text 1"/>
          <p:cNvSpPr/>
          <p:nvPr/>
        </p:nvSpPr>
        <p:spPr>
          <a:xfrm>
            <a:off x="777240" y="2651760"/>
            <a:ext cx="91440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2"/>
          <p:cNvSpPr/>
          <p:nvPr/>
        </p:nvSpPr>
        <p:spPr>
          <a:xfrm>
            <a:off x="777240" y="3794760"/>
            <a:ext cx="7360920" cy="457200"/>
          </a:xfrm>
          <a:prstGeom prst="rect">
            <a:avLst/>
          </a:prstGeom>
          <a:noFill/>
          <a:ln/>
        </p:spPr>
        <p:txBody>
          <a:bodyPr wrap="square" rtlCol="0" anchor="ctr"/>
          <a:lstStyle/>
          <a:p>
            <a:r>
              <a:rPr lang="en-US" sz="1600" dirty="0">
                <a:solidFill>
                  <a:schemeClr val="bg1"/>
                </a:solidFill>
              </a:rPr>
              <a:t>The URL to our project: </a:t>
            </a:r>
            <a:r>
              <a:rPr lang="en-SG" dirty="0">
                <a:solidFill>
                  <a:schemeClr val="bg1"/>
                </a:solidFill>
              </a:rPr>
              <a:t>https://sg-guard-web-</a:t>
            </a:r>
            <a:r>
              <a:rPr lang="en-SG" dirty="0" err="1">
                <a:solidFill>
                  <a:schemeClr val="bg1"/>
                </a:solidFill>
              </a:rPr>
              <a:t>app.onrender.com</a:t>
            </a:r>
            <a:r>
              <a:rPr lang="en-SG" dirty="0">
                <a:solidFill>
                  <a:schemeClr val="bg1"/>
                </a:solidFill>
              </a:rPr>
              <a:t>/</a:t>
            </a:r>
          </a:p>
          <a:p>
            <a:pPr marL="0" indent="0">
              <a:buNone/>
            </a:pPr>
            <a:endParaRPr lang="en-US" sz="1600" dirty="0"/>
          </a:p>
        </p:txBody>
      </p:sp>
      <p:sp>
        <p:nvSpPr>
          <p:cNvPr id="5" name="Text 3"/>
          <p:cNvSpPr/>
          <p:nvPr/>
        </p:nvSpPr>
        <p:spPr>
          <a:xfrm>
            <a:off x="822960" y="6309360"/>
            <a:ext cx="7315200" cy="274320"/>
          </a:xfrm>
          <a:prstGeom prst="rect">
            <a:avLst/>
          </a:prstGeom>
          <a:noFill/>
          <a:ln/>
        </p:spPr>
        <p:txBody>
          <a:bodyPr wrap="square" rtlCol="0" anchor="ctr"/>
          <a:lstStyle/>
          <a:p>
            <a:pPr marL="0" indent="0">
              <a:buNone/>
            </a:pPr>
            <a:r>
              <a:rPr lang="en-US" sz="900" kern="0" spc="100" dirty="0">
                <a:solidFill>
                  <a:srgbClr val="9A9A9A"/>
                </a:solidFill>
                <a:latin typeface="Courier New" pitchFamily="34" charset="0"/>
                <a:ea typeface="Courier New" pitchFamily="34" charset="-122"/>
                <a:cs typeface="Courier New" pitchFamily="34" charset="-120"/>
              </a:rPr>
              <a:t>Carwyn Yeo  ·  Lam Yan Yee  ·  SG Guard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3178</Words>
  <Application>Microsoft Macintosh PowerPoint</Application>
  <PresentationFormat>Widescreen</PresentationFormat>
  <Paragraphs>276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#YEO RUIZHI CARWYN#</cp:lastModifiedBy>
  <cp:revision>3</cp:revision>
  <dcterms:created xsi:type="dcterms:W3CDTF">2026-07-17T00:15:43Z</dcterms:created>
  <dcterms:modified xsi:type="dcterms:W3CDTF">2026-07-21T03:33:32Z</dcterms:modified>
</cp:coreProperties>
</file>